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457200"/>
            <a:ext cx="5760720" cy="3200400"/>
          </a:xfrm>
          <a:prstGeom prst="roundRect">
            <a:avLst>
              <a:gd name="adj" fmla="val 10000"/>
            </a:avLst>
          </a:prstGeom>
          <a:solidFill>
            <a:srgbClr val="18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73152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8FAFC"/>
                </a:solidFill>
                <a:latin typeface="Segoe UI Emoji"/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  <a:latin typeface="Calibri"/>
              </a:rPr>
              <a:t>3-DAY PYTHON WORKSHOP FOR ABSOLUTE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7616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8FAFC"/>
                </a:solidFill>
                <a:latin typeface="Calibri"/>
              </a:rPr>
              <a:t>Day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18CF8"/>
                </a:solidFill>
                <a:latin typeface="Calibri"/>
              </a:rPr>
              <a:t>Python Fundamentals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356616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70332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From zero to writing real code — logic, syntax, variables,
data types, user input, and operators. All in one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48056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 Emoji"/>
              </a:rPr>
              <a:t>📅  Day 1 of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48056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 Emoji"/>
              </a:rPr>
              <a:t>🕐  8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 Emoji"/>
              </a:rPr>
              <a:t>🧪  4 Exercises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48056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7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 Emoji"/>
              </a:rPr>
              <a:t>🎯  Beginners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YOUR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Calibri"/>
              </a:rPr>
              <a:t>Meet the Instructor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118872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60152" cy="43891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64008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737360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783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8FAFC"/>
                </a:solidFill>
                <a:latin typeface="Segoe UI Emoji"/>
              </a:rPr>
              <a:t>👨‍💻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190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Calibri"/>
              </a:rPr>
              <a:t>Bipin Paudel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Software Developer  |  ML Learner  |  Nepal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651760"/>
            <a:ext cx="7772400" cy="27432"/>
          </a:xfrm>
          <a:prstGeom prst="rect">
            <a:avLst/>
          </a:prstGeom>
          <a:solidFill>
            <a:srgbClr val="24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2788920"/>
            <a:ext cx="3108960" cy="310896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834640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Calibri"/>
              </a:rPr>
              <a:t>  SkinPal AI — Pypple Technology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788920"/>
            <a:ext cx="2377440" cy="310896"/>
          </a:xfrm>
          <a:prstGeom prst="roundRect">
            <a:avLst>
              <a:gd name="adj" fmla="val 10000"/>
            </a:avLst>
          </a:prstGeom>
          <a:solidFill>
            <a:srgbClr val="0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834640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  Aone Collection Stores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2788920"/>
            <a:ext cx="3108960" cy="310896"/>
          </a:xfrm>
          <a:prstGeom prst="roundRect">
            <a:avLst>
              <a:gd name="adj" fmla="val 10000"/>
            </a:avLst>
          </a:prstGeom>
          <a:solidFill>
            <a:srgbClr val="06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6256" y="2834640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  Learning Machine Learning &amp;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461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Building AI products at Pypple Technology, running an e-commerce platform currently in testing, and learning Machine Learning and AI. Here to make Python simple, practical and fun for you.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TODAY'S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What We Cover on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109728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453895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399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Introduction to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733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Instructions, interpretation, case-sensitivity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453895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53895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399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Python Installation &amp;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6733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Python, VS Code, Jupyter Notebooks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587752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715768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715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660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Python Syntax Basics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9352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Comments, quotes, indentation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587752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2715768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715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660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Variables in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9352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Creating, naming rules, memory containers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49624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" y="3977639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977639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922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Data Types &amp; Type 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1970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int, float, str, bool and conversions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849624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3977639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977639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922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User Input &amp;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970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input(), f-strings, formatted printing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111496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" y="5239512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239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51846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Python Operators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5458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Arithmetic, comparison, logical, bitwise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111496"/>
            <a:ext cx="5577840" cy="10789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19088" y="5239512"/>
            <a:ext cx="402336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5239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51846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Practice Exercises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5458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 hands-on coding challenges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Introduction to Programming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Understanding what programming is, how computers interpret
code, and where Python fits in the language landscape.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1  •  INTRODUCTION TO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What is Programming?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15568"/>
            <a:ext cx="30449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0292" cy="1920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Programming is writing step-by-step instructions for a computer to follow. The computer does exactly what you tell it — nothing more, nothing less.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0292" cy="1920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719072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Your code is read by an interpreter which translates human-readable instructions into binary (0s and 1s) that the CPU executes line by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83280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029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Sequential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Python runs code top to bottom, line by line. Line 1 runs, then Line 2, then Line 3. Order matters!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83280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38328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474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Case-Sensitivity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6732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Python treats  Print,  PRINT,  and  print  as three completely different things. Only  print  is valid!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1  •  INTRODUCTION TO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Low-Level vs High-Level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97280"/>
            <a:ext cx="39593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35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416052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335024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Low-Level (Assembly / 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280160"/>
            <a:ext cx="416052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335024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High-Level (Python / Java)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719072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Closeness to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719072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874519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Direct CPU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19072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1874519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Far from 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60320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715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Readability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560320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2715768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Machine-like syntax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560320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2715768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Reads like English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01568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5570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Speed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401568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557015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Extremely fast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401568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3557015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Fast enough for AI/Web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42816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398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Use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242816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4398264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OS kernels, Embedded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42816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4398264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Web, AI, Data Science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084064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2395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Learning Curve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5084064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5239512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Very steep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5084064"/>
            <a:ext cx="4160520" cy="74980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5239512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Beginner-friendly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1  •  CODE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Your First Python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097280"/>
            <a:ext cx="33558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57432" cy="242316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36245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6245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36245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1673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hello_world.py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55448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This is a comment. Python ignores this line!
print("Hello World")
# Sequential Execution: top to bottom
print("Welcome to Python Programming!")
print("We are executing code in sequence from top to bottom.")
print("Programming is the art of logical instruction.")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40480"/>
            <a:ext cx="11457432" cy="1874519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92277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92277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92277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7705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robot_log.py  —  Simulating a Robot Action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114800"/>
            <a:ext cx="1127455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Each line runs one after another
print("Robot: Robot initialized.")
print("System: Picking up cardboard box from shelf A.")
print("System: Transporting package to shipping dock C.")
print("System: Task completed successfully.")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0644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06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870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  Key insight: Every Python program is a sequence of instructions executed one line at a time, from top to bottom.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Python Installation &amp;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Setting up Python, VS Code, and Jupyter Notebooks
to run your first interactive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2  •  INSTALLATION &amp;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4-Step Setup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3752" y="1097280"/>
            <a:ext cx="24414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57432" cy="117043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64207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64207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Install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64792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Download from python.org/downloads. On Windows, check 'Add Python to PATH' during installation. On Mac, run the PKG installer.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06039"/>
            <a:ext cx="11457432" cy="117043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06039"/>
            <a:ext cx="64008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944368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4436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974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Install Visual Studio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44951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Download the free code editor from code.visualstudio.com — the industry-standard editor used by professional developers worldwide.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86200"/>
            <a:ext cx="11457432" cy="117043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64008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224528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7763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Install VS Code Extensions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25112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Open VS Code, go to Extensions panel, search and install Python (Microsoft) and Jupyter (Microsoft) extensions.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166359"/>
            <a:ext cx="11457432" cy="117043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166359"/>
            <a:ext cx="64008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504688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0468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25779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Open the Workshop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605271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File &gt; Open Folder &gt; Select workshop directory &gt; Open any .ipynb file &gt; Click Run All or play button next to each cell.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Python Syntax Basics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The grammar rules of Python: quotes, comments,
indentation, and formatting.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3  •  PYTHON SYNTAX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Quotes, Comments &amp; Indentation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97280"/>
            <a:ext cx="48737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94960" cy="1234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94960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String Quotes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Single ' '  and  Double " "  are interchangeable.
Triple """ """  spans multiple lines (also used for docstrings).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80160"/>
            <a:ext cx="5788152" cy="1234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578815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417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Comment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71907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Single-line: # This is a comment
Inline: x = 10   # discount rate
Dev Tags: # TODO  # NOTE  # FIXME  # WARNING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5176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029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Indentation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44952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Python uses 4 spaces (not braces {}) to define code blocks. Accidental spaces at top-level code cause an IndentationError — the #1 beginner mistake!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651760"/>
            <a:ext cx="5788152" cy="128016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651760"/>
            <a:ext cx="5029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Good vs Bad Comments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44952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Comment the WHY, not the WHAT.
Good: # Applying 10% senior citizen discount
Bad:  # This prints the number 5  (obvious!)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11457432" cy="233172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" y="410565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10565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10565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05993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syntax_demo.py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297680"/>
            <a:ext cx="1127455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Correct zero indentation at top level
print("This runs cleanly!")
# Inside a block — 4 spaces indented
if True:
    print("Properly indented block")
discount_rate = 0.10   # 10% discount for senior citizens
vat_rate      = 0.13   # Nepal government VAT: 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Variables in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Named containers that store data in memory.
The building block of every program.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4  •  VARIABLES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What is a Variable?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0449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94960" cy="137160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0292" cy="1371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Named Container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 variable is a named box in computer memory that stores a value. You give it a name, assign a value with  =  and retrieve it by name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80160"/>
            <a:ext cx="5788152" cy="137160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50292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Dynamic 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You never declare a type in Python. The same variable can hold an integer, then a string, then a list. Python adapts automatically at runtime.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88920"/>
            <a:ext cx="11457432" cy="224028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2871215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71215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5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2549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dynamic_typing.py  —  One variable, three different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063239"/>
            <a:ext cx="112745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game_state = 10            # Step 1: holds an integer
print("Initial Score:", game_state)
game_state = 250           # Step 2: updated to a larger integer
print("Updated Score:", game_state)
game_state = "GAME OVER"   # Step 3: now holds a string!
print("Final Status: ", game_state)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20640"/>
            <a:ext cx="5394960" cy="1234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029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303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Valid Names (snake_case)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046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unit_price   student_name   is_active   cart_total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120640"/>
            <a:ext cx="5788152" cy="1234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5120640"/>
            <a:ext cx="50292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5230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Invalid Names (will crash)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5046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2fast   my variable   if   for   my-var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4  •  VARIABLES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Variables in a Real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0449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57432" cy="42062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40817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0817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0817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6245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invoice_receipt.py  —  Professional snake_case variable naming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112745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item_title        = 'Wireless Headphones'
unit_price        = 4500.00
purchase_quantity = 2
sales_tax_rate    = 0.13
subtotal_cost  = unit_price * purchase_quantity     # NPR 9000
calculated_tax = subtotal_cost * sales_tax_rate     # NPR 1170
grand_total    = subtotal_cost + calculated_tax     # NPR 10170
print('------------ INVOICE RECEIPT ------------')
print('Product:  ', item_title)
print('Subtotal:  NPR', subtotal_cost)
print('Tax (13%): NPR', calculated_tax)
print('Total Due: NPR', grand_total)
print('-----------------------------------------')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23560"/>
            <a:ext cx="11457432" cy="621792"/>
          </a:xfrm>
          <a:prstGeom prst="roundRect">
            <a:avLst>
              <a:gd name="adj" fmla="val 10000"/>
            </a:avLst>
          </a:prstGeom>
          <a:solidFill>
            <a:srgbClr val="06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alibri"/>
              </a:rPr>
              <a:t>  Best Practice: Always use descriptive snake_case names. Write  unit_price  not  x.  Your future self will thank you!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Data Types &amp; Type Casting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The four fundamental types Python uses to categorize
every piece of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5  •  DATA TYPES &amp; TYPE 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The Four Core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0248" y="1097280"/>
            <a:ext cx="3657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508760"/>
            <a:ext cx="640080" cy="329184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0876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120"/>
                </a:solidFill>
                <a:latin typeface="Courier New"/>
              </a:rPr>
              <a:t>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270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Integer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Whole numbers, no decimal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  <a:latin typeface="Courier New"/>
              </a:rPr>
              <a:t>age = 25
quantity =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32588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325880"/>
            <a:ext cx="55778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508760"/>
            <a:ext cx="640080" cy="329184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120"/>
                </a:solidFill>
                <a:latin typeface="Courier New"/>
              </a:rPr>
              <a:t>float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5270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Floating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Numbers with decimal 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4808" y="2286000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35000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  <a:latin typeface="Courier New"/>
              </a:rPr>
              <a:t>height = 5.9
price = 4500.00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4048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55778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352" y="4023360"/>
            <a:ext cx="640080" cy="329184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2336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120"/>
                </a:solidFill>
                <a:latin typeface="Courier New"/>
              </a:rPr>
              <a:t>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416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Text wrapped in quotes.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600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6460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  <a:latin typeface="Courier New"/>
              </a:rPr>
              <a:t>name = "Shyam"
city = "Kathmandu"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384048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3840480"/>
            <a:ext cx="55778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6520" y="4023360"/>
            <a:ext cx="640080" cy="329184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02336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120"/>
                </a:solidFill>
                <a:latin typeface="Courier New"/>
              </a:rPr>
              <a:t>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0416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Boolean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434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Only True or False.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64808" y="4800600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86460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  <a:latin typeface="Courier New"/>
              </a:rPr>
              <a:t>is_student = True
has_paid = False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5  •  DATA TYPES &amp; TYPE 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Type Casting — Converting Between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097280"/>
            <a:ext cx="54864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94960" cy="111556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029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Implicit Casting (Auto)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Python automatically upgrades a type when mixing compatible types.  int + float becomes float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80160"/>
            <a:ext cx="5788152" cy="111556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Explicit Casting (Manual)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64208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You manually force a type conversion using: int()  float()  str()  bool()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14600"/>
            <a:ext cx="11457432" cy="33101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259689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59689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59689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55117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type_casting.py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2788920"/>
            <a:ext cx="11274552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Implicit Casting: Python auto-upgrades int to float
integer_num = 5
float_num   = 2.5
sum_result  = integer_num + float_num   # 5 + 2.5 = 7.5
print('Result:', sum_result)             # 7.5
print('Type:',   type(sum_result))       # &lt;class 'float'&gt;
# Explicit Casting: Convert text digits to a real integer
text_digits  = '125'
number_value = int(text_digits)          # '125' becomes 125
print('Casted Value:', number_value, '| Type:', type(number_value))
# Float to int truncates the decimal (NOT rounded)
print(int(8.75))   # Output: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97880"/>
            <a:ext cx="11457432" cy="47548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8CF8"/>
                </a:solidFill>
                <a:latin typeface="Calibri"/>
              </a:rPr>
              <a:t>int(x) converts to integer   |   float(x) converts to float   |   str(x) converts to string   |   bool(x) converts to boolean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SIX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User Input &amp;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Making programs interactive with input()
and formatting output beautifully with f-strings.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6  •  USER INPUT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input() Function &amp; f-strings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097280"/>
            <a:ext cx="33558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98448"/>
            <a:ext cx="11457432" cy="1719072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380744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80744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380744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35024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input_basic.py  —  Example 1: Interactive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572768"/>
            <a:ext cx="1127455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input() pauses the program and waits for the user to type
name_entry = input('What is your name? ')
# f-string: embed variables directly inside strings using {braces}
print(f'Nice to meet you, {name_entry}!')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27248"/>
            <a:ext cx="11457432" cy="230428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27248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209544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09544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209544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63824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cash_register.py  —  Example 2: Cash Register with Type 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01568"/>
            <a:ext cx="1127455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# IMPORTANT: input() ALWAYS returns a STRING — cast to numbers!
price_input = float(input('Enter product price (NPR): '))
qty_input   = int(input('Enter purchase quantity: '))
total       = price_input * qty_input
print('----------- INVOICE SYSTEM -----------')
print(f'Price:       NPR {price_input}')
print(f'Quantity:    {qty_input}')
print(f'Grand Total: NPR {total}')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522976"/>
            <a:ext cx="11457432" cy="118872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522976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5605272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605272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05272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559552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precision.py  —  Example 3: Precision Formatting with :.2f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797296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raw_total = 5.25 * 170.83333
print(f'Raw:     NPR {raw_total}')      # NPR 896.8749825...
print(f'Rounded: NPR {raw_total:.2f}')  # NPR 896.87  (clean!)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SEVEN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Python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Arithmetic, comparison, logical, bitwise,
identity, and membership operators.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7  •  PYTHON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Arithmetic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448" y="10972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98448"/>
            <a:ext cx="265176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Operator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298448"/>
            <a:ext cx="164592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53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Symbol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298448"/>
            <a:ext cx="411480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35331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Example (a=10, b=3)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298448"/>
            <a:ext cx="2286000" cy="347472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35331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73736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470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Addition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8470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73736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84708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+ 3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7373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340864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4505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Subtraction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340864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45059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340864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450592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10 - 3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340864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19" y="24505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944368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5409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Multiplication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29443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054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294436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054096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*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2944368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19" y="305409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3547872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576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3547872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36576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354787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36576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/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3547872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19" y="36576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3.3333...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151376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261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Floor Division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0" y="4151376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426110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//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4151376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426110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//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4151376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19" y="426110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3  (decimal cut off)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47548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646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Modulo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00400" y="475488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486460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0" y="475488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486460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10 % 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26880" y="47548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19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1  (remainder only)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5358383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4681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Exponent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00400" y="5358383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0" y="546811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  <a:latin typeface="Courier New"/>
              </a:rPr>
              <a:t>**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0" y="5358383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0" y="5468112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2 ** 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26880" y="5358383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19" y="54681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8  (2 cubed)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6108192"/>
            <a:ext cx="11457432" cy="59436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6108192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75488" y="6190488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4360" y="6190488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3232" y="6190488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" y="6144768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cart.py  —  Shorthand Assignment + Operator Precedence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" y="638251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cart = 0
cart += 1200     # T-shirt       → 1200
cart += 3500     # Running shoes → 4700
cart -= 500      # Coupon        → 4200
print((10 + 5) * 2)   # 30  (parentheses first)
print(10 + 5 * 2)     # 20  (multiplication first)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7  •  PYTHON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Comparison &amp; Logical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1097280"/>
            <a:ext cx="42702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Comparison Operators  (return True or 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64208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739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Equal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!=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04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Not equal 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24912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163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Greater than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55263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3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&lt;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6499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Less than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85615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77055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&gt;=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953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Greater than or equal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315968"/>
            <a:ext cx="5486400" cy="475488"/>
          </a:xfrm>
          <a:prstGeom prst="roundRect">
            <a:avLst>
              <a:gd name="adj" fmla="val 10000"/>
            </a:avLst>
          </a:prstGeom>
          <a:solidFill>
            <a:srgbClr val="13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ourier New"/>
              </a:rPr>
              <a:t>&lt;=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25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Less than or equal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280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Logical Operators  (combine conditions)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77393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urier New"/>
              </a:rPr>
              <a:t>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8013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BOTH conditions must be 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304288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41401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urier New"/>
              </a:rPr>
              <a:t>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4414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AT LEAST ONE condition must be True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944368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540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urier New"/>
              </a:rPr>
              <a:t>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0815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Reverses True to False (and vice versa)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657600"/>
            <a:ext cx="11457432" cy="2633472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65760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" y="373989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373989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373989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369417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logical_demo.py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3931920"/>
            <a:ext cx="1127455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age = 22;  has_license = True;  has_uniform = False
is_adult          = age &gt;= 18               # True
eligible_to_drive = is_adult and has_license # True  (both True)
allowed_in_exam   = is_adult or has_uniform  # True  (at least one True)
print(f'Is adult?        {is_adult}')
print(f'Can drive?       {eligible_to_drive}')
print(f'Allowed in exam? {allowed_in_exam}')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7  •  PYTHON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  <a:latin typeface="Calibri"/>
              </a:rPr>
              <a:t>Identity &amp; Membership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1097280"/>
            <a:ext cx="42702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98448"/>
            <a:ext cx="11457432" cy="82296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5029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Identity Operators:  is  and  is not    Check if two variables point to the SAME object in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12848"/>
            <a:ext cx="11457432" cy="212140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2295144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295144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295144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249424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identity.py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87168"/>
            <a:ext cx="112745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x = ['apple', 'banana']
y = ['apple', 'banana']   # same CONTENT, but different object in memory
z = x                     # z is an alias — points to the SAME object as x
print(f'x is y  : {x is y}')    # False — two separate list objects
print(f'x is z  : {x is z}')    # True  — z aliases x
print(f'x == y  : {x == y}')    # True  — same content (value equality)
# Key: == checks VALUES,  is checks OBJECT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34840"/>
            <a:ext cx="11457432" cy="621792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50292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44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Membership Operators:  in  and  not in    Check if an item exists inside a collection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148072"/>
            <a:ext cx="11457432" cy="157276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148072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5230368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230368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230368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184648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membership.py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422392"/>
            <a:ext cx="11274552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fruits = ['apple', 'banana', 'mango', 'kiwi']
print(f"'banana' in fruits  : {'banana' in fruits}")   # True
print(f"'grape'  in fruits  : {'grape'  in fruits}")   # False
course = 'Python Fundamentals Workshop'
print(f"'Python' in course  : {'Python' in course}")   # True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6702552" cy="4754880"/>
          </a:xfrm>
          <a:prstGeom prst="roundRect">
            <a:avLst>
              <a:gd name="adj" fmla="val 10000"/>
            </a:avLst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1216152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1460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FAFC"/>
                </a:solidFill>
                <a:latin typeface="Calibri"/>
              </a:rPr>
              <a:t>Practice Exercises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52044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Four hands-on coding challenges to reinforce
everything you learned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8  •  PRACTICE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Exercise 1 &amp;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109728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57432" cy="221284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40817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0817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0817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6245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exercise_1.py  —  Add Two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11274552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num1_str = input('Enter first number: ')
num2_str = input('Enter second number: ')
val1      = float(num1_str)
val2      = float(num2_str)
total_sum = val1 + val2
print(f'The sum of {val1} and {val2} is: {total_sum}')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39312"/>
            <a:ext cx="11457432" cy="2633472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39312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721608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721608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721608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675887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exercise_2.py  —  Area of a Rectangle 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13632"/>
            <a:ext cx="1127455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length = float(input('Enter the length of the rectangle: '))
width  = float(input('Enter the width of the rectangle: '))
rectangle_area = length * width
print('========== RECTANGLE AREA CALCULATOR ==========')
print(f'Length : {length}')
print(f'Width  : {width}')
print(f'Area   : {rectangle_area}')
print('===============================================')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TOPIC 8  •  PRACTICE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Exercise 3 &amp;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109728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57432" cy="29718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408176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08176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08176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62456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exercise_3.py  —  Simple Arithmetic Calculator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1127455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a = float(input('Enter first number (a): '))
b = float(input('Enter second number (b): '))
addition       = a + b
subtraction    = a - b
multiplication = a * b
division       = a / b if b != 0 else 0   # guard against divide-by-zero
print('========== ARITHMETIC DASHBOARD ==========')
print(f'Addition (a+b): {addition}')
print(f'Subtraction:    {subtraction}')
print(f'Multiplication: {multiplication}')
print(f'Division (a/b): {division:.2f}')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07408"/>
            <a:ext cx="11457432" cy="16916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407408"/>
            <a:ext cx="11457432" cy="2560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489704"/>
            <a:ext cx="82296" cy="82296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489704"/>
            <a:ext cx="82296" cy="82296"/>
          </a:xfrm>
          <a:prstGeom prst="rect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489704"/>
            <a:ext cx="82296" cy="82296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443984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ourier New"/>
              </a:rPr>
              <a:t>exercise_4.py  —  Temperature Converter (Celsius to Fahrenheit)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681728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B2BF"/>
                </a:solidFill>
                <a:latin typeface="Courier New"/>
              </a:rPr>
              <a:t>celsius    = float(input('Enter temperature in Celsius: '))
fahrenheit = (celsius * 9 / 5) + 32
print(f'Temperature Conversion:')
print(f'  {celsius:.1f} degrees Celsius  =  {fahrenheit:.2f} degrees Fahrenheit')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DAY 1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What You Learned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097280"/>
            <a:ext cx="335584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2651760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Programming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Sequential execution, interpretation, case-sensitivity, Hello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53312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53312"/>
            <a:ext cx="26517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Setup &amp; Syntax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901952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Python + VS Code install, quotes, comments, indentation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353312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353312"/>
            <a:ext cx="26517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901952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Dynamic typing, snake_case naming, multiple assignment, memory containers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353312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353312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Data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1901952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int, float, str, bool — type(), implicit &amp; explicit type casting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2651760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Input &amp;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80559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input(), f-strings, precision formatting with :.2f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73552" y="393192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3552" y="3931920"/>
            <a:ext cx="265176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0712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Operators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4480559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Arithmetic, comparison, logical, bitwise, identity, membership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93192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3931920"/>
            <a:ext cx="26517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4 Exercises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4480559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Sum, Area, Calculator, Temperature Converter programs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93192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89136" y="393192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Real Projects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4480559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Invoice receipt, robot log, cash register, arithmetic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0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457200"/>
            <a:ext cx="6702552" cy="5029200"/>
          </a:xfrm>
          <a:prstGeom prst="roundRect">
            <a:avLst>
              <a:gd name="adj" fmla="val 10000"/>
            </a:avLst>
          </a:prstGeom>
          <a:solidFill>
            <a:srgbClr val="08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8229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8FAFC"/>
                </a:solidFill>
                <a:latin typeface="Segoe UI Emoj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5788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COMING NEXT — 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93392"/>
            <a:ext cx="9445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FAFC"/>
                </a:solidFill>
                <a:latin typeface="Calibri"/>
              </a:rPr>
              <a:t>Great Work Today!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743200"/>
            <a:ext cx="21305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44368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44368"/>
            <a:ext cx="5029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35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Control Flow
if/elif/else, for loops,
while loops, break, continue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944368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944368"/>
            <a:ext cx="5029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035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Functions &amp; Data Structures
lists, tuples, sets,
dictionaries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416" y="2944368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0416" y="2944368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035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Full Projects
Student Record System
Modular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92040"/>
            <a:ext cx="8531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Every master developer started exactly where you are today.
Keep coding, keep experimenting, and enjoy the journey!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5687568"/>
            <a:ext cx="2103120" cy="347472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8376" y="5742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Python Workshop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648" y="5687568"/>
            <a:ext cx="2103120" cy="34747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5742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Day 1 Complete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0648" y="5687568"/>
            <a:ext cx="2103120" cy="347472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5" y="5742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Day 2 Coming Soon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