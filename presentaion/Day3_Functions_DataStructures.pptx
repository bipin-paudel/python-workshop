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D0FF"/>
                </a:solidFill>
                <a:latin typeface="Calibri"/>
              </a:rPr>
              <a:t>PYTHON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4B5FD"/>
                </a:solidFill>
                <a:latin typeface="Calibri"/>
              </a:rPr>
              <a:t>Functions &amp; 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DE9FE"/>
                </a:solidFill>
                <a:latin typeface="Calibri"/>
              </a:rPr>
              <a:t>Transform your scripts into structured, modular &amp; professional
programs using Functions, Lists, Tuples, Sets &amp; Dictionaries.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42816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01  Functions  (def, parameters, return values)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99432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36008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02  Lists  (ordered, mutable, indexing, methods)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92624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03  Tuples  (ordered, immutable, safe storage)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85816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22392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04  Sets  (unique, unordered, auto-deduplicated)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779008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155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05  Dictionaries  (key-value pairs, structured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172200"/>
            <a:ext cx="8046720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208776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06  Mini Projects  (Student Records + Calculator)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Full Workshop Recap &amp; 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Day 1 + Day 2 summary and what we conquer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Day 1 — Python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47088"/>
            <a:ext cx="3566160" cy="365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54864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Variables &amp; Data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9424"/>
            <a:ext cx="3566160" cy="365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49424"/>
            <a:ext cx="54864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951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int, float, str, bool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3566160" cy="365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54864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User Input + Type 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54096"/>
            <a:ext cx="3566160" cy="365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54096"/>
            <a:ext cx="54864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981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String operations, f-strings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56432"/>
            <a:ext cx="3566160" cy="365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54864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0215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Arithmetic &amp; Assignment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4630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Day 2 — Control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847088"/>
            <a:ext cx="3566160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1847088"/>
            <a:ext cx="548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89280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if / elif / else conditionals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249424"/>
            <a:ext cx="3566160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249424"/>
            <a:ext cx="548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2951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and / or / not operators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651760"/>
            <a:ext cx="3566160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2651760"/>
            <a:ext cx="548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69748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for loops + range()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054096"/>
            <a:ext cx="3566160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3054096"/>
            <a:ext cx="548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309981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while loops + counters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456432"/>
            <a:ext cx="3566160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3456432"/>
            <a:ext cx="548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350215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break / continue / 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146304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Day 3 — Today's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1847088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191109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1352" y="1847088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187452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Functions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208483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def, parameters, return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2331720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27848" y="2395728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31352" y="2331720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792" y="235915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Lists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22792" y="256946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ordered mutable collections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816352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2880360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31352" y="2816352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284378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Tuples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305409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immutable ordered sequences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3300984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7848" y="3364992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31352" y="3300984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22792" y="3328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Sets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22792" y="353872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unique unordered collections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3785616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27848" y="3849624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31352" y="3785616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22792" y="381304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Dictionaries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22792" y="402336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key-value structured 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9560" y="4270248"/>
            <a:ext cx="5943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27848" y="433425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31352" y="4270248"/>
            <a:ext cx="33375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2792" y="429768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Mini Projects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22792" y="450799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Student DB + Calculator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1: Functions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Creating modular, reusable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1828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What is a Function?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 named, self-contained block of code for a specific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Write it ONCE — call it ANYWHERE, as many times as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Solves: no more copy-pasting the same code 10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If there's a bug, fix it once in the function — fixed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Provides Modularity (organized code) and Reusability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806440" cy="1828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64008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6473E"/>
                </a:solidFill>
                <a:latin typeface="Calibri"/>
              </a:rPr>
              <a:t>Real-World Function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3852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 washing machine is a pre-built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4942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You load it with clothes (input = arguments)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560320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Press start (= calling the function)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87121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It returns clean clothes (return value)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182112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You don't rebuild the motor every time you wash!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429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Anatomy of a 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13048"/>
            <a:ext cx="539496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813048"/>
            <a:ext cx="64008" cy="2606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904488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function_name(parameter1, parameter2):
    # Code block — indented 4 spaces
    result = parameter1 + parameter2
    return result
# Calling the function
answer = function_name(5, 3)
print(answer)   # Output: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429000"/>
            <a:ext cx="150876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34564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def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694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Keyword to DEFINE a function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71232" y="3429000"/>
            <a:ext cx="150876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44384" y="34564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4" y="3694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Placeholder variables in definition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7424" y="3429000"/>
            <a:ext cx="150876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34564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arguments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3694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Actual values passed when calling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43616" y="3429000"/>
            <a:ext cx="150876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34564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return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36941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Sends result back to the caller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005072"/>
            <a:ext cx="2651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02336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params, no return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389120"/>
            <a:ext cx="265176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4389120"/>
            <a:ext cx="64008" cy="14447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2" y="4480560"/>
            <a:ext cx="24231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greet():
    print("Hello Student")
greet()
# Hello Student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4005072"/>
            <a:ext cx="30632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402336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With param + return value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4389120"/>
            <a:ext cx="3063240" cy="1444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0" y="4389120"/>
            <a:ext cx="64008" cy="14447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4480560"/>
            <a:ext cx="28346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add(a, b):
    return a + b
result = add(5, 3)
print(result)  #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Functions — Parameters, Return &amp; Default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Deeper dive into how functions communicate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Default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5577840" cy="2057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64008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3852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Default value used if argument not provided
def greet_user(name="Student"):
    print(f"Hello {name}!")
greet_user("Ram")   # Hello Ram!
greet_user()         # Hello Student!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50208"/>
            <a:ext cx="5577840" cy="4754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950208"/>
            <a:ext cx="6400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98678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1D95"/>
                </a:solidFill>
                <a:latin typeface="Calibri"/>
              </a:rPr>
              <a:t>Tip: Default parameters make functions flexible — callers can skip optional arguments.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5669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81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Multiple Return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47088"/>
            <a:ext cx="5669280" cy="2057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847088"/>
            <a:ext cx="64008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938528"/>
            <a:ext cx="54406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Return multiple values as a tuple
def min_max(numbers):
    return min(numbers), max(numbers)
low, high = min_max([3, 1, 7, 2, 9])
print(low, high)   # 1  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50208"/>
            <a:ext cx="566928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50208"/>
            <a:ext cx="6400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8678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12E81"/>
                </a:solidFill>
                <a:latin typeface="Calibri"/>
              </a:rPr>
              <a:t>Tip: Functions can return multiple values — Python packs them into a tuple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5537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print() vs return — Critical Difference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37760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37760"/>
            <a:ext cx="64008" cy="1508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502920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bad_add(a, b):
    print(a + b)     # only shows on screen!
x = bad_add(2, 3)   # x is None, not 5
print(x + 1)        # ERROR: NoneType!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937760"/>
            <a:ext cx="580644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4937760"/>
            <a:ext cx="64008" cy="1508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502920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good_add(a, b):
    return a + b     # hands value back
x = good_add(2, 3)  # x is now 5
print(x + 1)        # 6 — works perfectly!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2: Lists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Ordered, mutable collections — the workhorse of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19019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9019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What is a List?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 ordered, mutable (changeable) collection of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Declared with square brackets  [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Can hold mixed types: numbers, strings, booleans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Elements accessed by index — indexing starts at ZERO 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Can be freely modified: add, remove, or update elements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806440" cy="19019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64008" cy="19019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6473E"/>
                </a:solidFill>
                <a:latin typeface="Calibri"/>
              </a:rPr>
              <a:t>Why Do We Need Lists?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3852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Store 20 shopping items in 1 variable, not 20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4942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Process entire class attendance with one for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560320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Collect all user form inputs in a single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87121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Analogy: row of gym lockers, each with a number (index)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182112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Essential for almost every real-world Python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493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How Indexing Works — Visual Guide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2212848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70832"/>
            <a:ext cx="2212848" cy="320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38912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  <a:latin typeface="Courier New"/>
              </a:rPr>
              <a:t>[0]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18304"/>
            <a:ext cx="2212848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73659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ourier New"/>
              </a:rPr>
              <a:t>[-5]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4328" y="3886200"/>
            <a:ext cx="2212848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393192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Banana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24328" y="4370832"/>
            <a:ext cx="2212848" cy="320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4328" y="438912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  <a:latin typeface="Courier New"/>
              </a:rPr>
              <a:t>[1]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24328" y="4718304"/>
            <a:ext cx="2212848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4328" y="473659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ourier New"/>
              </a:rPr>
              <a:t>[-4]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28616" y="3886200"/>
            <a:ext cx="2212848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393192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Mango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28616" y="4370832"/>
            <a:ext cx="2212848" cy="320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8616" y="438912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  <a:latin typeface="Courier New"/>
              </a:rPr>
              <a:t>[2]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28616" y="4718304"/>
            <a:ext cx="2212848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28616" y="473659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ourier New"/>
              </a:rPr>
              <a:t>[-3]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32904" y="3886200"/>
            <a:ext cx="2212848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4" y="393192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Orange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32904" y="4370832"/>
            <a:ext cx="2212848" cy="320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438912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  <a:latin typeface="Courier New"/>
              </a:rPr>
              <a:t>[3]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4718304"/>
            <a:ext cx="2212848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473659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ourier New"/>
              </a:rPr>
              <a:t>[-2]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37192" y="3886200"/>
            <a:ext cx="2212848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82912" y="393192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37192" y="4370832"/>
            <a:ext cx="2212848" cy="320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37192" y="438912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1D95"/>
                </a:solidFill>
                <a:latin typeface="Courier New"/>
              </a:rPr>
              <a:t>[4]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37192" y="4718304"/>
            <a:ext cx="2212848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4736592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ourier New"/>
              </a:rPr>
              <a:t>[-1]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Positive indexing  →  left to right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074920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Negative indexing  →  right to left  (fruits[-1] = last item)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413248"/>
            <a:ext cx="115214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431536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Essential List Methods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append(x)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Add item to 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95144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68296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remove(x)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8296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Remove first match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0248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insert(i,x)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43400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Insert at index 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5352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18504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pop()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4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Remove &amp; return last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0456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93608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sort()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93608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Sort in-place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60" y="5797296"/>
            <a:ext cx="1920240" cy="6217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68712" y="583387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BA6F7"/>
                </a:solidFill>
                <a:latin typeface="Courier New"/>
              </a:rPr>
              <a:t>len(list)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68712" y="60899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  <a:latin typeface="Calibri"/>
              </a:rPr>
              <a:t>Count elements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Lists — Code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Creation, indexing, mutation, and looping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749039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Create &amp;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3749039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47088"/>
            <a:ext cx="64008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38528"/>
            <a:ext cx="3520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fruits = ["Apple", "Banana", "Mango"]
print(fruits)        # full list
print(fruits[0])     # Apple
print(fruits[-1])    # Mango (last item)
print(len(fruits))   #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81328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Append &amp; Modify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47088"/>
            <a:ext cx="379476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847088"/>
            <a:ext cx="64008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938528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numbers = [10, 20, 30]
numbers.append(40)   # add to end
print(numbers)       # [10,20,30,40]
numbers[0] = 99      # mutate index 0
print(numbers)       # [99,20,30,40]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63040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813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3 — Remove &amp; Sort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847088"/>
            <a:ext cx="36576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847088"/>
            <a:ext cx="64008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193852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scores = [85, 42, 91, 67, 55]
scores.remove(42)    # remove by value
scores.sort()        # sort ascending
print(scores)
# [55, 67, 85, 91]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04487"/>
            <a:ext cx="5669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22775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4 — List Slicing  list[start:stop:step]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88536"/>
            <a:ext cx="566928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88536"/>
            <a:ext cx="64008" cy="2240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379976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nums = [0, 1, 2, 3, 4, 5, 6, 7, 8, 9]
print(nums[2:6])     # [2, 3, 4, 5]
print(nums[:4])      # [0, 1, 2, 3]
print(nums[6:])      # [6, 7, 8, 9]
print(nums[::2])     # [0, 2, 4, 6, 8]  (every 2nd)
print(nums[::-1])    # [9,8,7,...,0]  (reversed)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904487"/>
            <a:ext cx="566928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922775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5 — Loop Through List (Real-World)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288536"/>
            <a:ext cx="566928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288536"/>
            <a:ext cx="64008" cy="2240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379976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students = ["Ram", "Sita", "Hari"]
# Loop with index using enumerate()
for idx, student in enumerate(students, 1):
    print(f"{idx}. Welcome to Day 3, {student}!")
# Output:
# 1. Welcome to Day 3, Ram!
# 2. Welcome to Day 3, Sita!
# 3. Welcome to Day 3, Hari!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3: Tuples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Safe, unchangeable ordered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20299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2029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What is a Tuple?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 immutable (UNCHANGEABLE), ordered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Declared using parentheses  (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Accessed by index — just like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Once created, elements CANNOT be modified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Faster than lists and uses less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49300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Perfect for data that must stay constant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806440" cy="20299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64008" cy="20299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When to Use Tuples?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3852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RGB color values:  (255, 128, 0)  — should never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24942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GPS coordinates:  (27.7172, 85.3240)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60320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Database record rows returned from SQL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87121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Server configuration:  (host, port, protocol)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182112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Function returning multiple fixed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49300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Analogy: writing in permanent ink — cannot be erased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30168"/>
            <a:ext cx="37033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484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Define &amp;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14215"/>
            <a:ext cx="3703320" cy="166420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14215"/>
            <a:ext cx="64008" cy="16642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105655"/>
            <a:ext cx="34747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colors = ("Red", "Blue", "Green")
print(colors)        # ('Red','Blue','Green')
print(colors[0])     # Red
print(len(colors))   # 3
print(colors[-1])    # Green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630168"/>
            <a:ext cx="37947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648456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Tuple Unpacking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014215"/>
            <a:ext cx="3794760" cy="166420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014215"/>
            <a:ext cx="64008" cy="16642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4105655"/>
            <a:ext cx="35661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GPS coordinates of Kathmandu
kathmandu = (27.7172, 85.3240)
# Unpack tuple into named variables
latitude, longitude = kathmandu
print(latitude)   # 27.7172
print(longitude)  # 85.3240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630168"/>
            <a:ext cx="3657600" cy="16642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3630168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39" y="37398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1B1B"/>
                </a:solidFill>
                <a:latin typeface="Calibri"/>
              </a:rPr>
              <a:t>TypeError — Tuples Are Immutable!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9" y="41056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colors = ("Red", "Blue", "Green")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9" y="44074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colors[0] = "Yellow"   # ERROR!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39" y="5010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TypeError: 'tuple' object does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39" y="5312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not support item assignment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39" y="56144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Use a List [ ] if you need to mutate!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8064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List vs Tuple — At a Glance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153912"/>
            <a:ext cx="2286000" cy="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33472" y="6153912"/>
            <a:ext cx="4572000" cy="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6153912"/>
            <a:ext cx="4297680" cy="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6153912"/>
            <a:ext cx="228600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33472" y="6153912"/>
            <a:ext cx="457200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760" y="6153912"/>
            <a:ext cx="429768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6153912"/>
            <a:ext cx="228600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3472" y="6153912"/>
            <a:ext cx="457200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23760" y="6153912"/>
            <a:ext cx="429768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6153912"/>
            <a:ext cx="228600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33472" y="6153912"/>
            <a:ext cx="457200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23760" y="6153912"/>
            <a:ext cx="4297680" cy="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6153912"/>
            <a:ext cx="228600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33472" y="6153912"/>
            <a:ext cx="457200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23760" y="6153912"/>
            <a:ext cx="4297680" cy="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6153912"/>
            <a:ext cx="2286000" cy="29260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1813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33472" y="6153912"/>
            <a:ext cx="4572000" cy="29260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79192" y="61813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List  [ 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6153912"/>
            <a:ext cx="4297680" cy="29260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618134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Tuple  ( 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6455664"/>
            <a:ext cx="228600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4830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Syntax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33472" y="6455664"/>
            <a:ext cx="457200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79192" y="64830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fruits = ['a','b']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23760" y="6455664"/>
            <a:ext cx="429768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69480" y="64830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colors = ('a','b')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757416"/>
            <a:ext cx="228600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784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Mutability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33472" y="6757416"/>
            <a:ext cx="457200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79192" y="67848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Mutable (changeable)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60" y="6757416"/>
            <a:ext cx="429768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69480" y="67848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Immutable (fixed)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7059168"/>
            <a:ext cx="228600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7086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Speed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33472" y="7059168"/>
            <a:ext cx="457200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79192" y="70866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Slightly slower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23760" y="7059168"/>
            <a:ext cx="429768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69480" y="70866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Faster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7360920"/>
            <a:ext cx="228600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7388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Use when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33472" y="7360920"/>
            <a:ext cx="457200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79192" y="738835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Data changes over time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23760" y="7360920"/>
            <a:ext cx="429768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69480" y="73883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urier New"/>
              </a:rPr>
              <a:t>Data stays constant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4: Sets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Unique, unordered, auto-deduplicated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19659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1965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What is a Set?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 unordered collection of UNIQUE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Declared using curly braces  {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Automatically removes ALL duplicate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No indexing — you cannot do  set[0]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Elements can be added with .add()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49300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Ideal for membership testing and deduplication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806440" cy="19659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64008" cy="1965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6473E"/>
                </a:solidFill>
                <a:latin typeface="Calibri"/>
              </a:rPr>
              <a:t>Why Do We Need Sets?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3852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Find unique visitors from a list of 1M IP addresses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24942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Extract unique words from a large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60320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Check if an item exists (faster than list search)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87121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Remove duplicates from any collection instantly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182112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Analogy: tennis balls in a basket — only unique colors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49300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Set operations: union, intersection, difference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66160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5844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Auto Deduplication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50208"/>
            <a:ext cx="365760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50208"/>
            <a:ext cx="64008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04164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Notice '2' appears twice
numbers = {1, 2, 2, 3, 3, 3}
print(numbers)
# {1, 2, 3}  — duplicates removed!
print(len(numbers))  #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566160"/>
            <a:ext cx="37947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584448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add() &amp; Set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950208"/>
            <a:ext cx="379476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950208"/>
            <a:ext cx="64008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4041648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 = {"apple", "banana"}
s.add("cherry")   # add element
print(s)
a = {1, 2, 3}
b = {2, 3, 4}
print(a | b)  # union:  {1,2,3,4}
print(a &amp; b)  # intersect: {2,3}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566160"/>
            <a:ext cx="370332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58444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3 — Real World: Unique Visitors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950208"/>
            <a:ext cx="37033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950208"/>
            <a:ext cx="64008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04164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# Raw log with repeat visitors
visits = ["192.168.1.1", "10.0.0.1",
          "192.168.1.1", "172.16.0.1"]
unique = set(visits)
print(f"Unique visitors: {len(unique)}")
# Unique visitors: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687568"/>
            <a:ext cx="5577840" cy="80467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5687568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" y="57790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350F"/>
                </a:solidFill>
                <a:latin typeface="Calibri"/>
              </a:rPr>
              <a:t>Sets vs Lists — Key Differences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616305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Sets: unordered, unique, no index | Lists: ordered, allows duplicates, indexable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5687568"/>
            <a:ext cx="5806440" cy="80467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5687568"/>
            <a:ext cx="5806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5797296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1B1B"/>
                </a:solidFill>
                <a:latin typeface="Calibri"/>
              </a:rPr>
              <a:t>Sets Cannot Be Indexed!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6163056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s = {1, 2, 3}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6464808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91B1B"/>
                </a:solidFill>
                <a:latin typeface="Calibri"/>
              </a:rPr>
              <a:t>print(s[0])  →  TypeError: 'set' object is not subscriptable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Topic 5: Dictionaries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Structured key-value pairs — Python's most powerful data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20299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2029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What is a Dictionary?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 mutable collection of KEY : VALUE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Declared using curly braces  { 'key': value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Access values using the KEY, not an index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Keys must be unique — values can 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Values can be any type: str, int, list, even another dict!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49300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Like a real dictionary: look up a word (key) to get meaning (value)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806440" cy="20299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64008" cy="20299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12E81"/>
                </a:solidFill>
                <a:latin typeface="Calibri"/>
              </a:rPr>
              <a:t>Why Do We Need Dictionaries?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3852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Lists store items by position; dicts store by meaningful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24942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Student record: name, age, marks — all in one neat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60320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Phone book: person name → phone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871216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Product catalogue: barcode → price, name,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182112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JSON data from web APIs is structured exactly like dicts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493008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Calibri"/>
              </a:rPr>
              <a:t>• Config files, user profiles, database rows — all use dicts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30168"/>
            <a:ext cx="37033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484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1 — Create &amp;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14215"/>
            <a:ext cx="370332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14215"/>
            <a:ext cx="64008" cy="2423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105655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student = {
    "name":  "Ram",
    "age":   20,
    "marks": 92
}
print(student["name"])    # Ram
print(student["marks"])   # 92
print(len(student))       # 3 keys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630168"/>
            <a:ext cx="37947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648456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2 — Update &amp; Add Keys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014215"/>
            <a:ext cx="379476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014215"/>
            <a:ext cx="64008" cy="2423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4105655"/>
            <a:ext cx="3566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student = {"name": "Sita",
           "marks": 90}
student["marks"] = 95      # update
student["city"] = "Ktm"   # add new key
print(student)
# {'name':'Sita','marks':95,
#  'city':'Ktm'}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630168"/>
            <a:ext cx="36576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6484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Example 3 — Loop Through Dict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4014215"/>
            <a:ext cx="365760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4014215"/>
            <a:ext cx="64008" cy="2423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4105655"/>
            <a:ext cx="3429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book = {"title": "Python Basics",
        "author": "Bipin",
        "year": 2025}
# Loop through all key-value pairs
for key, value in book.items():
    print(f"{key}: {value}")
# title: Python Basics
# author: Bipin  |  year: 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Structures — Complete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List vs Tuple vs Set vs Dictionary — choose the right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828800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4904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0552" y="1463040"/>
            <a:ext cx="2450592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5416" y="14904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List  [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6" y="1463040"/>
            <a:ext cx="2450592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904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Tuple  (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463040"/>
            <a:ext cx="2331720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1464" y="149047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Set  {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5752" y="1463040"/>
            <a:ext cx="2788920" cy="43891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616" y="149047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Dictionary  { k:v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938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9842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Ordered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192938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5416" y="198424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8576" y="192938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8424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929384"/>
            <a:ext cx="23317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198424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5752" y="1929384"/>
            <a:ext cx="27889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0616" y="198424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 (Python 3.7+)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7802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5328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Mutable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0552" y="247802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85416" y="253288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576" y="247802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53288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478024"/>
            <a:ext cx="23317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1464" y="253288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 (add/rm)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5752" y="2478024"/>
            <a:ext cx="27889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0616" y="253288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02666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308152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Duplicates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30552" y="302666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85416" y="308152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Allowed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08576" y="302666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08152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Allowed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026664"/>
            <a:ext cx="23317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1464" y="308152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NOT allowed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45752" y="3026664"/>
            <a:ext cx="27889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0616" y="308152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Keys must be unique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57530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36301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Indexing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0552" y="357530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5416" y="363016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  [0]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8576" y="357530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63016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Yes  [0]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3575304"/>
            <a:ext cx="23317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41464" y="363016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45752" y="3575304"/>
            <a:ext cx="27889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0616" y="363016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By key  ['name']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12394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41788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ourier New"/>
              </a:rPr>
              <a:t>Syntax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30552" y="412394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85416" y="417880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ourier New"/>
              </a:rPr>
              <a:t>[ 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08576" y="412394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417880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ourier New"/>
              </a:rPr>
              <a:t>( 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6600" y="4123944"/>
            <a:ext cx="23317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41464" y="417880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ourier New"/>
              </a:rPr>
              <a:t>{ 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45752" y="4123944"/>
            <a:ext cx="27889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0616" y="417880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ourier New"/>
              </a:rPr>
              <a:t>{ 'key': value }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67258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7274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Use for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30552" y="467258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472744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Ordered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08576" y="467258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472744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Fixed records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4672584"/>
            <a:ext cx="23317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41464" y="472744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Unique items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45752" y="4672584"/>
            <a:ext cx="27889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0616" y="472744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Structured records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22122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" y="52760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Speed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30552" y="522122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85416" y="527608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Medium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08576" y="5221224"/>
            <a:ext cx="2450592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0" y="527608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Fastest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86600" y="5221224"/>
            <a:ext cx="23317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41464" y="527608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Fast lookup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45752" y="5221224"/>
            <a:ext cx="2788920" cy="5303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00616" y="527608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Fast key lookup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769864"/>
            <a:ext cx="1828800" cy="530352"/>
          </a:xfrm>
          <a:prstGeom prst="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9184" y="582472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1D95"/>
                </a:solidFill>
                <a:latin typeface="Calibri"/>
              </a:rPr>
              <a:t>Example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30552" y="576986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185416" y="582472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[1,2,3]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08576" y="5769864"/>
            <a:ext cx="2450592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0" y="5824728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(27.7, 85.3)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86600" y="5769864"/>
            <a:ext cx="23317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41464" y="5824728"/>
            <a:ext cx="2240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{1,2,3}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445752" y="5769864"/>
            <a:ext cx="2788920" cy="53035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0616" y="5824728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{'name':'Ram'}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400800"/>
            <a:ext cx="11868912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80" y="643737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Quick Guide:  Ordered changeable data → List  |  Fixed/safe data → Tuple  |  Unique items → Set  |  Label-based lookup → Dictionary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Mini Project 1 — Student Record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Combining Lists + Dictionaries + Loops + Conditionals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25146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2514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Concepts Combined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List  →  acts as the database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Dictionary  →  each student is a dict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while True loop  →  keeps menu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if/elif/else  →  routes menu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append()  →  adds new student to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49300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enumerate()  →  numbered display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803904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break  →  cleanly exits the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1480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len()  →  counts total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463040"/>
            <a:ext cx="769924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481328"/>
            <a:ext cx="7516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Full Source Code — Student Record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847088"/>
            <a:ext cx="7699248" cy="46451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847088"/>
            <a:ext cx="64008" cy="4645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1938528"/>
            <a:ext cx="7470648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students = []   # empty list = database
while True:
    print("\n--- STUDENT RECORDS MENU ---")
    print("1. Add Student")
    print("2. View Students")
    print("3. Exit")
    choice = input("Enter choice (1-3): ")
    if choice == "1":
        name  = input("Enter student name: ")
        age   = input("Enter student age: ")
        marks = input("Enter student marks: ")
        student = {"name": name,
                   "age":  age,
                   "marks":marks}
        students.append(student)
        print(f"Student {name} Added!")
    elif choice == "2":
        if not students:
            print("Database is empty.")
        else:
            for i, s in enumerate(students, 1):
                print(f"{i}. {s['name']} | "
                      f"Age:{s['age']} | Marks:{s['marks']}")
    elif choice == "3":
        print("Goodbye!")   ;   break
    else:
        print("Invalid choice!")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Mini Project 2 — Modular Calculator with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Every operation is its own clean, reusable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235915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64008" cy="2359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Design Principles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3852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One function per operation → clean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9424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divide() guards against division by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6032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while True loop → keeps calculator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71216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Functions called dynamically by user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float() input → handles decimal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49300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break → graceful exit on choice '5'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803904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Modular design → easy to add new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463040"/>
            <a:ext cx="769924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481328"/>
            <a:ext cx="7516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Full Source Code — Modular Calculator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847088"/>
            <a:ext cx="7699248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847088"/>
            <a:ext cx="64008" cy="4480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1938528"/>
            <a:ext cx="7470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add(a, b):       return a + b
def subtract(a, b):  return a - b
def multiply(a, b):  return a * b
def divide(a, b):
    if b == 0:  return "Error: Cannot divide by zero!"
    return a / b
while True:
    print("\n--- CALCULATOR ---")
    print("1. Add  2. Subtract  3. Multiply  4. Divide  5. Exit")
    choice = input("Enter choice (1-5): ")
    if choice == "5":
        print("Goodbye!")   ;   break
    if choice in ["1","2","3","4"]:
        a = float(input("First number: "))
        b = float(input("Second number: "))
        if choice == "1":  print("Result:", add(a, b))
        elif choice == "2":  print("Result:", subtract(a, b))
        elif choice == "3":  print("Result:", multiply(a, b))
        elif choice == "4":  print("Result:", divide(a, b))
    else:
        print("Invalid option!")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50208"/>
            <a:ext cx="3657600" cy="15087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950208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4041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350F"/>
                </a:solidFill>
                <a:latin typeface="Calibri"/>
              </a:rPr>
              <a:t>Why This Architecture Is Powerful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425696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Adding 'power' operation = just 1 new 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72744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Each function testable independently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502920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divide() guard prevents runtime crash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533095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• This is the foundation of professional code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 10 Common Beginner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Learn these now — save hours of frustration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481328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481328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7007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Missing colon ':'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883664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if x &gt; 5  →  SyntaxError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121408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396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if x &gt; 5:  ← always add colon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481328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481328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7007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527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Wrong indentation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03136" y="1883664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19019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Mixing tabs &amp; spaces crashes 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3136" y="2121408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1396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Use 4 spaces consistently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459736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2459736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679192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5054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= vs == confusion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2862072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880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if x = 5  →  SyntaxError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099816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1181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if x == 5  ← == for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2459736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2459736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679192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25054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Type mismatch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03136" y="2862072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2880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"age" + 25  →  TypeError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03136" y="3099816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1181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str(age) + " years"  ← cast 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3438144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" y="3438144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365760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3483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Infinite while loop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3840480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38587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while count &lt;= 5: print(count)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4078224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0965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Always add  count += 1  inside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4496" y="3438144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54496" y="3438144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65760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3136" y="3483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Index out of range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03136" y="3840480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76288" y="38587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lst = [1,2,3]  ;  lst[5]  →  Error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4078224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76288" y="40965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Check len(lst) before indexing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" y="4416552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2608" y="4416552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46360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4462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Modifying tuple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" y="4818888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48371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t=(1,2); t[0]=9  →  TypeError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" y="5056632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0749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Use a list if data needs to change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4496" y="4416552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54496" y="4416552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46360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4462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Forgetting return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3136" y="4818888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76288" y="48371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def add(a,b): print(a+b)  → None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03136" y="5056632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76288" y="50749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def add(a,b): return a+b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" y="5394960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2608" y="5394960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" y="5614416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5440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Case-sensitive names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" y="5797296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58155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userName  ≠  username  ≠  UserName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" y="6035040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60533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Python is 100% case-sensitive!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54496" y="5394960"/>
            <a:ext cx="5742432" cy="9326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5394960"/>
            <a:ext cx="475488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91072" y="5614416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3136" y="5440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C1D95"/>
                </a:solidFill>
                <a:latin typeface="Calibri"/>
              </a:rPr>
              <a:t>Giving up too early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03136" y="5797296"/>
            <a:ext cx="5120640" cy="2194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76288" y="58155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1B1B"/>
                </a:solidFill>
                <a:latin typeface="Courier New"/>
              </a:rPr>
              <a:t>Errors are learning opportunities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03136" y="6035040"/>
            <a:ext cx="5120640" cy="219456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76288" y="60533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ourier New"/>
              </a:rPr>
              <a:t>Every expert was once a beginner!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to Learn Next — Your Python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You've completed the foundations — here's where to go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463040"/>
            <a:ext cx="379476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9047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Level 1 — Intermediate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938528"/>
            <a:ext cx="3794760" cy="13898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938528"/>
            <a:ext cx="54864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011680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Object-Oriented Programming (OOP)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359152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Classes &amp; objects, inheritance, encapsulation. Build real-world models like BankAccount, Student, Car.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3374136"/>
            <a:ext cx="3794760" cy="13898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3374136"/>
            <a:ext cx="54864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447288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File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3794760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Read &amp; write .txt, .csv, .json files to permanently save your program's data to disk.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4809744"/>
            <a:ext cx="3794760" cy="138988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4809744"/>
            <a:ext cx="54864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4882896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1D95"/>
                </a:solidFill>
                <a:latin typeface="Calibri"/>
              </a:rP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5230368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try / except / finally — make programs robust so they don't crash on bad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463040"/>
            <a:ext cx="379476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49047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Level 2 — Practical 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938528"/>
            <a:ext cx="3794760" cy="13898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1938528"/>
            <a:ext cx="54864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2011680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Modules &amp; Packages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2359152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import math, random, datetime — use Python's 200+ built-in libraries.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3374136"/>
            <a:ext cx="3794760" cy="13898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3374136"/>
            <a:ext cx="54864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3447288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List Comprehensions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3794760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squares = [x**2 for x in range(10)]  — write powerful loops in one clean 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4809744"/>
            <a:ext cx="3794760" cy="13898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4809744"/>
            <a:ext cx="54864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4882896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12E81"/>
                </a:solidFill>
                <a:latin typeface="Calibri"/>
              </a:rPr>
              <a:t>Lambda &amp; Map/Filter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8264" y="5230368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Functional programming tools to process data elegantly.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1463040"/>
            <a:ext cx="379476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149047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Level 3 — Python Superpowers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1938528"/>
            <a:ext cx="3794760" cy="138988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47888" y="1938528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011680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473E"/>
                </a:solidFill>
                <a:latin typeface="Calibri"/>
              </a:rPr>
              <a:t>NumPy &amp; Pandas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359152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Scientific computing and data analysis. Foundation of data science and ML.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3374136"/>
            <a:ext cx="3794760" cy="138988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47888" y="3374136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4" y="3447288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473E"/>
                </a:solidFill>
                <a:latin typeface="Calibri"/>
              </a:rPr>
              <a:t>Flask / FastAPI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3794760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Build web backends and REST APIs. Power web applications with Python.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8" y="4809744"/>
            <a:ext cx="3794760" cy="138988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47888" y="4809744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5904" y="4882896"/>
            <a:ext cx="3593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473E"/>
                </a:solidFill>
                <a:latin typeface="Calibri"/>
              </a:rPr>
              <a:t>Web Scraping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230368"/>
            <a:ext cx="35935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requests + BeautifulSoup — extract live data from any website automatically.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" y="6291072"/>
            <a:ext cx="11576304" cy="4572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3367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Best Free Resources:  python.org  |  docs.python.org  |  realpython.com  |  leetcode.com (practice)  |  kaggle.com (data science)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Day 3 Cheat Sheet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Functions + all four data structures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926080" cy="5074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9260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4475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01952"/>
            <a:ext cx="2788920" cy="2148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901952"/>
            <a:ext cx="64008" cy="21488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93392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def greet(name="Student"):
    return f"Hello {name}!"
# Call it:
msg = greet("Ram")
print(msg)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1330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1D95"/>
                </a:solidFill>
                <a:latin typeface="Calibri"/>
              </a:rPr>
              <a:t>• def to define  |  ( ) for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49884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1D95"/>
                </a:solidFill>
                <a:latin typeface="Calibri"/>
              </a:rPr>
              <a:t>• return sends value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86460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1D95"/>
                </a:solidFill>
                <a:latin typeface="Calibri"/>
              </a:rPr>
              <a:t>• print() ≠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523036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1D95"/>
                </a:solidFill>
                <a:latin typeface="Calibri"/>
              </a:rPr>
              <a:t>• Call by name + args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559612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1D95"/>
                </a:solidFill>
                <a:latin typeface="Calibri"/>
              </a:rPr>
              <a:t>• Default params allowed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148840" cy="5074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17320"/>
            <a:ext cx="214884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1444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Lists  [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0712" y="1901952"/>
            <a:ext cx="2011680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1901952"/>
            <a:ext cx="64008" cy="12984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1993392"/>
            <a:ext cx="17830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lst = [1, 2, 3]
lst.append(4)
lst[0] = 99
lst.remove(2)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27355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Ordered + mutable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60273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Index from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393192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.append()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426110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.remove() 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5902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.sort() 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91947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.pop() remove last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2486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len() =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557784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12E81"/>
                </a:solidFill>
                <a:latin typeface="Calibri"/>
              </a:rPr>
              <a:t>• Slicing [s:e:step]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417320"/>
            <a:ext cx="2011680" cy="50749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1417320"/>
            <a:ext cx="201168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14447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Tuples  ( 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1901952"/>
            <a:ext cx="1874519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50992" y="1901952"/>
            <a:ext cx="64008" cy="12984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4" y="1993392"/>
            <a:ext cx="164591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t = (27.7, 85.3)
print(t[0])
lat, lon = t
# t[0] = 9  ERROR!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327355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Ordered + immutable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360273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Index from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393192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Cannot modify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426110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Unpack into vars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459028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Faster than 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491947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Use for fixed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524865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( ) syntax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2" y="557784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1D95"/>
                </a:solidFill>
                <a:latin typeface="Calibri"/>
              </a:rPr>
              <a:t>• No append/remove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1417320"/>
            <a:ext cx="2011680" cy="5074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60" y="1417320"/>
            <a:ext cx="20116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54112" y="144475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Sets  { 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54112" y="1901952"/>
            <a:ext cx="1874519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54112" y="1901952"/>
            <a:ext cx="64008" cy="12984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18704" y="1993392"/>
            <a:ext cx="164591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s = {1, 2, 2, 3}
# {1, 2, 3}
s.add(4)
a | b  # union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4112" y="327355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Unordered + unique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4112" y="360273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No duplicates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2" y="393192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No indexing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4112" y="426110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.add() to add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459028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.remove() to 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4112" y="4919472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set() to convert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2" y="524865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| union  &amp; inter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112" y="5577840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473E"/>
                </a:solidFill>
                <a:latin typeface="Calibri"/>
              </a:rPr>
              <a:t>• Fast membership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1417320"/>
            <a:ext cx="2103120" cy="50749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84080" y="141732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57232" y="14447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Dicts  {k:v}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57232" y="1901952"/>
            <a:ext cx="1965960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57232" y="1901952"/>
            <a:ext cx="64008" cy="12984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21824" y="1993392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6E22E"/>
                </a:solidFill>
                <a:latin typeface="Courier New"/>
              </a:rPr>
              <a:t>d = {'name':'Ram'}
d['age'] = 20
print(d['name'])
d.items()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2" y="327355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Key : Value pairs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57232" y="3602736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Mutable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57232" y="3931920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Keys must be unique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57232" y="4261104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Access by key name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7232" y="4590288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.keys() .values()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57232" y="49194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.items() loop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57232" y="5248656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in operator check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232" y="5577840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350F"/>
                </a:solidFill>
                <a:latin typeface="Calibri"/>
              </a:rPr>
              <a:t>• JSON-like structure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Day 3: Functions &amp; Data Structures  |  Python 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3-Day Python Workshop Complete!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CD0FF"/>
                </a:solidFill>
                <a:latin typeface="Calibri"/>
              </a:rPr>
              <a:t>You started knowing nothing. You leave as a Python programmer.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3520440" cy="4206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465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 1 — Fundamentals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Variables &amp; Data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51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Input &amp; Type Casting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906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String &amp; f-strings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83864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2958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Arithmetic Operators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22776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6849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print() &amp; Comments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719072"/>
            <a:ext cx="3520440" cy="42062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7465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 2 — Control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167128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2128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if / elif / else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606040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2651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and / or / not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044952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0906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for loops + range()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483864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52958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while loops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922776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396849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break / continue /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9" y="1719072"/>
            <a:ext cx="3520440" cy="42062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17465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 3 — Power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59" y="2167128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7" y="221284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Functions (def + return)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9" y="2606040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2651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Lists — ordered mutable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9" y="3044952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7" y="30906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Tuples — immutable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59" y="3483864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7" y="352958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Sets — unique items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9" y="3922776"/>
            <a:ext cx="352044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7" y="396849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Dictionaries — key:value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572000"/>
            <a:ext cx="11201400" cy="42062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6085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D0FF"/>
                </a:solidFill>
                <a:latin typeface="Calibri"/>
              </a:rPr>
              <a:t>With these skills you can now build:  Calculators  |  Contact Books  |  Number Games  |  Data Processors  |  Menu-driven Apps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120640"/>
            <a:ext cx="11201400" cy="1005840"/>
          </a:xfrm>
          <a:prstGeom prst="rect">
            <a:avLst/>
          </a:prstGeom>
          <a:solidFill>
            <a:srgbClr val="3B0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66360"/>
            <a:ext cx="10835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D0FF"/>
                </a:solidFill>
                <a:latin typeface="Calibri"/>
              </a:rPr>
              <a:t>"Every expert programmer was once an absolute beginner.  The secret is consistency — write code every day, embrace bugs as lessons, and never stop building.  You now hold the keys to Python."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  <a:latin typeface="Calibri"/>
              </a:rPr>
              <a:t>Happy Coding!  —  Python Workshop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