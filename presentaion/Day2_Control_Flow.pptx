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F3D0"/>
                </a:solidFill>
                <a:latin typeface="Calibri"/>
              </a:rPr>
              <a:t>PYTHON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A7F3D0"/>
                </a:solidFill>
                <a:latin typeface="Calibri"/>
              </a:rPr>
              <a:t>Control Flow &amp; Iteration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FAE5"/>
                </a:solidFill>
                <a:latin typeface="Calibri"/>
              </a:rPr>
              <a:t>Making programs smart, dynamic &amp; automated through
decisions, comparisons, loops &amp; loop controls.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7772400" cy="347472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34256"/>
            <a:ext cx="74980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01  Conditional Statements (if / elif / else)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90872"/>
            <a:ext cx="7772400" cy="347472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27448"/>
            <a:ext cx="74980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02  Comparison &amp; Logical Operators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084064"/>
            <a:ext cx="7772400" cy="347472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74980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03  For Loops &amp; While Loops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77256"/>
            <a:ext cx="7772400" cy="347472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74980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04  Loop Control: break / continue /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70448"/>
            <a:ext cx="7772400" cy="347472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907024"/>
            <a:ext cx="74980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05  Practice Exercises &amp; Mini 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Recap &amp; Today's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From data storage to program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12E81"/>
                </a:solidFill>
                <a:latin typeface="Calibri"/>
              </a:rPr>
              <a:t>Day 1 Recap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64008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911095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12E81"/>
                </a:solidFill>
                <a:latin typeface="Calibri"/>
              </a:rPr>
              <a:t>Variables &amp; Data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11095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int, float, str, bool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59151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359151"/>
            <a:ext cx="64008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7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12E81"/>
                </a:solidFill>
                <a:latin typeface="Calibri"/>
              </a:rPr>
              <a:t>User Input &amp; Type 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95727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input(), int(), float()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43783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843783"/>
            <a:ext cx="64008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88035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12E81"/>
                </a:solidFill>
                <a:latin typeface="Calibri"/>
              </a:rPr>
              <a:t>String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880359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concatenation, f-strings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28415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328415"/>
            <a:ext cx="64008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36499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12E81"/>
                </a:solidFill>
                <a:latin typeface="Calibri"/>
              </a:rPr>
              <a:t>Basic Arithmetic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364991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+, -, *, /, //, %, **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13047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813047"/>
            <a:ext cx="64008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849623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12E81"/>
                </a:solidFill>
                <a:latin typeface="Calibri"/>
              </a:rPr>
              <a:t>print()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849623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displaying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Today's Learning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874519"/>
            <a:ext cx="65836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1938527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Topic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12864" y="1874519"/>
            <a:ext cx="457200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1901951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Conditional Statements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10311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if / elif / else logic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359151"/>
            <a:ext cx="65836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2423159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Topic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12864" y="2359151"/>
            <a:ext cx="457200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2386583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Logical &amp; Comparison 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2587751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and, or, not, ==, !=, &gt;, &lt;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843783"/>
            <a:ext cx="65836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2907791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Topic 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12864" y="2843783"/>
            <a:ext cx="457200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2871215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Loops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3072383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for loops &amp; while loops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328415"/>
            <a:ext cx="65836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3392423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Topic 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12864" y="3328415"/>
            <a:ext cx="457200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5160" y="3355847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Loop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3557015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break, continue, pass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813047"/>
            <a:ext cx="65836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6208" y="3877055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Topic 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12864" y="3813047"/>
            <a:ext cx="457200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384047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Practice &amp; Mini Projects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4041647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Exercises + fun programs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1: Conditional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Teaching your program to make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1508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1508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12E81"/>
                </a:solidFill>
                <a:latin typeface="Calibri"/>
              </a:rPr>
              <a:t>What are Conditional Statements?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20240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Allow a program to run different code based on True/False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21992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if  → executes block only when condition is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23744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elif → checks another condition if previous ones were 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25496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else → fallback block when all prior conditions are False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463040"/>
            <a:ext cx="5806440" cy="15087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64008" cy="1508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554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59669"/>
                </a:solidFill>
                <a:latin typeface="Calibri"/>
              </a:rPr>
              <a:t>Why Do We Need Them?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920240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User Login: if password correct → dashboard, else →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2219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ATM: if balance &gt;= amount → dispense cash, else →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523744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Games: if health == 0 → Game 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825496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Apps: if user_type == 'admin' → grant full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108960"/>
            <a:ext cx="1152144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0896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12724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12E81"/>
                </a:solidFill>
                <a:latin typeface="Calibri"/>
              </a:rPr>
              <a:t>Real-Life Analogy:  If it is raining → carry umbrella  |  elif very sunny → wear sunglasses  |  else → walk out normally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Python Syntax &amp; Indentation 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69080"/>
            <a:ext cx="530352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69080"/>
            <a:ext cx="64008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4160520"/>
            <a:ext cx="5074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if condition:
    # runs when condition is True
    print("Condition met!")
elif another_condition:
    print("Second condition met!")
else:
    print("No conditions matched")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703320"/>
            <a:ext cx="5806440" cy="24688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3703320"/>
            <a:ext cx="64008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37947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78350F"/>
                </a:solidFill>
                <a:latin typeface="Calibri"/>
              </a:rPr>
              <a:t>Critical Syntax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4160520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End every if / elif / else line with a colon  ':'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446227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Indent the code block inside with 4 spaces or 1 Tab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764024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Only the FIRST matching branch executes; rest are skipped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5065776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Conditions always evaluate to True or False (Boolean)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Conditional Statements — Code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Step-by-step from simple to real-world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749039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1 — Basic Single if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47088"/>
            <a:ext cx="3749039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47088"/>
            <a:ext cx="6400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938528"/>
            <a:ext cx="3520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age = 18
if age &gt;= 18:
    print("You can vote")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5526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Output:  You can vote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3749039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8132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2 — if-else (Pass/Fail)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847088"/>
            <a:ext cx="3749039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847088"/>
            <a:ext cx="6400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938528"/>
            <a:ext cx="3520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marks = 40
if marks &gt;= 40:
    print("Pass")
else:
    print("Fail")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25526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Output:  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6118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81328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3 — Login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847088"/>
            <a:ext cx="361188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847088"/>
            <a:ext cx="6400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93852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password = input("Enter password: ")
if password == "python123":
    print("Login Successful")
else:
    print("Wrong Password")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55264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Real-world: login systems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03320"/>
            <a:ext cx="56692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721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4 — Multi-Stage Grade System (if-elif-elif-else)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87368"/>
            <a:ext cx="566928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087368"/>
            <a:ext cx="64008" cy="2423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4178808"/>
            <a:ext cx="54406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score = 75
if score &gt;= 90:
    print("Grade: A")
elif score &gt;= 80:
    print("Grade: B")
elif score &gt;= 70:
    print("Grade: C")
else:
    print("Grade: D")
# Output: Grade: 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703320"/>
            <a:ext cx="5669280" cy="12344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703320"/>
            <a:ext cx="56692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8130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1B1B"/>
                </a:solidFill>
                <a:latin typeface="Calibri"/>
              </a:rPr>
              <a:t>Common Mistake — Missing Colon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1605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WRONG:  if age &gt;= 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4531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ERROR:  SyntaxError: expected ':'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457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FIXED:  if age &gt;= 18:    ← always add colon!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4983480"/>
            <a:ext cx="5669280" cy="15087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4983480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507492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350F"/>
                </a:solidFill>
                <a:latin typeface="Calibri"/>
              </a:rPr>
              <a:t>Key 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5440680"/>
            <a:ext cx="5321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Conditions always produce True or False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5733288"/>
            <a:ext cx="5321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Only ONE matching branch ever runs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2" y="6025896"/>
            <a:ext cx="5321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elif &amp; else are optional; if alone is valid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6318504"/>
            <a:ext cx="5321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Indentation defines what is INSIDE the block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2: Comparison &amp; Logical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Making sophisticated and compound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Comparison Operators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47088"/>
            <a:ext cx="5943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892808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==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1847088"/>
            <a:ext cx="21031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019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Equal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2384" y="1847088"/>
            <a:ext cx="2697480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1901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5 == 5  → 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67712"/>
            <a:ext cx="5943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313432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!=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" y="2267712"/>
            <a:ext cx="21031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3225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Not equal 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72384" y="2267712"/>
            <a:ext cx="2697480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23225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5 != 3  → True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88336"/>
            <a:ext cx="5943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2734056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" y="2688336"/>
            <a:ext cx="21031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2743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Greater than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72384" y="2688336"/>
            <a:ext cx="2697480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5536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7 &gt; 3   → True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108960"/>
            <a:ext cx="5943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15468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" y="3108960"/>
            <a:ext cx="21031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1638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Less than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72384" y="3108960"/>
            <a:ext cx="2697480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45536" y="31638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2 &lt; 9   → True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29584"/>
            <a:ext cx="5943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357530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&gt;=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" y="3529584"/>
            <a:ext cx="21031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3584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Greater than or equal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72384" y="3529584"/>
            <a:ext cx="2697480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45536" y="3584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5 &gt;= 5  → True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950208"/>
            <a:ext cx="5943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" y="3995928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&lt;=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" y="3950208"/>
            <a:ext cx="21031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005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Less than or equal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72384" y="3950208"/>
            <a:ext cx="2697480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45536" y="4005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4 &lt;= 6  → 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463040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Logical Operators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1847088"/>
            <a:ext cx="777240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53328" y="193852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39712" y="1847088"/>
            <a:ext cx="5001768" cy="6583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31152" y="189280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True only if ALL conditions are True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31152" y="21945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ourier New"/>
              </a:rPr>
              <a:t>age &gt;= 18 and citizen == True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2551176"/>
            <a:ext cx="777240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53328" y="2642616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39712" y="2551176"/>
            <a:ext cx="5001768" cy="6583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31152" y="259689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True if AT LEAST ONE condition is True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31152" y="289864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ourier New"/>
              </a:rPr>
              <a:t>age &lt; 12 or age &gt; 60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3255264"/>
            <a:ext cx="777240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3328" y="3346704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not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9712" y="3255264"/>
            <a:ext cx="5001768" cy="6583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31152" y="330098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Reverses the boolean value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31152" y="360273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ourier New"/>
              </a:rPr>
              <a:t>not banned  →  if user is NOT banned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4041648"/>
            <a:ext cx="580644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4059936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Code Examples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425696"/>
            <a:ext cx="2743200" cy="202996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35040" y="4425696"/>
            <a:ext cx="64008" cy="20299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9632" y="4517136"/>
            <a:ext cx="251460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# AND — both must be True
age = 25
citizen = True
can_vote = (age &gt;= 18) and citizen
print(can_vote)  # True
# OR — one is enough
age = 8
if age &lt; 12 or age &gt; 60:
    print("Discount!")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05672" y="4425696"/>
            <a:ext cx="3035808" cy="202996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05672" y="4425696"/>
            <a:ext cx="64008" cy="20299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70264" y="4517136"/>
            <a:ext cx="2807208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# NOT — reverses value
banned = False
if not banned:
    print("Access granted")
# Combining operators
if age &gt;= 18 and not banned:
    print("Full access")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709160"/>
            <a:ext cx="5440680" cy="530352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" y="4709160"/>
            <a:ext cx="64008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5488" y="4727448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8350F"/>
                </a:solidFill>
                <a:latin typeface="Calibri"/>
              </a:rPr>
              <a:t>Real-Life:  Exam entry requires Admit Card  AND  Uniform. Missing either = no entry. → Perfect 'and' condition!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303520"/>
            <a:ext cx="5440680" cy="11887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0040" y="5303520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4632" y="5394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350F"/>
                </a:solidFill>
                <a:latin typeface="Calibri"/>
              </a:rPr>
              <a:t>Key Points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2" y="5760720"/>
            <a:ext cx="5093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and = all parts must be True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" y="6053328"/>
            <a:ext cx="5093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or  = at least one part must be True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072" y="6345936"/>
            <a:ext cx="5093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not = flips True to False and vice versa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3: For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Repeating code over a known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394960" cy="16642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16642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12E81"/>
                </a:solidFill>
                <a:latin typeface="Calibri"/>
              </a:rPr>
              <a:t>What is a For Loop?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20240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Repeats a block of code for each item in a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21992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Works with range(), lists, strings, and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23744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range(start, end) → generates numbers start to end-1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25496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You ALWAYS know how many times it will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27248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loop variable takes the value of each item in 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63040"/>
            <a:ext cx="5897880" cy="166420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463040"/>
            <a:ext cx="64008" cy="16642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15544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59669"/>
                </a:solidFill>
                <a:latin typeface="Calibri"/>
              </a:rPr>
              <a:t>Real-World Uses of For Loops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920240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Send newsletter email to 10,000 subscribers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221992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Print each name in a student attendance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523744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Generate multiplication tables 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825496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Process every row in a database / spreadsheet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127248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Animate each frame in a game 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55264"/>
            <a:ext cx="1152144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255264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29184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12E81"/>
                </a:solidFill>
                <a:latin typeface="Calibri"/>
              </a:rPr>
              <a:t>Analogy:  'Do 10 push-ups' = for i in range(10)  |  Each rep is one iteration. You know exactly when it ends.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40480"/>
            <a:ext cx="36118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858768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1 — Counting 1-5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224528"/>
            <a:ext cx="361188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224528"/>
            <a:ext cx="6400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431596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for number in range(1, 6):
    print(number)
# Output:
# 1  2  3  4 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840480"/>
            <a:ext cx="38404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385876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2 — Loop Over a 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224528"/>
            <a:ext cx="384048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0" y="4224528"/>
            <a:ext cx="6400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9392" y="4315968"/>
            <a:ext cx="3611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students = ["Ram", "Sita", "Hari"]
for student in students:
    print(student)
# Ram  Sita  Hari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840480"/>
            <a:ext cx="37033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85876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3 — range() variations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224528"/>
            <a:ext cx="370332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224528"/>
            <a:ext cx="6400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4315968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# range(stop)
for i in range(5):      # 0,1,2,3,4
    print(i)
# range(start, stop, step)
for i in range(0, 10, 2): # 0,2,4,6,8
    print(i)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3: While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Repeating code until a condition becomes False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394960" cy="16642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16642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12E81"/>
                </a:solidFill>
                <a:latin typeface="Calibri"/>
              </a:rPr>
              <a:t>What is a While Loop?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20240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Repeats a block of code as long as a condition is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21992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You DON'T need to know in advance how many times it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23744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Condition is checked BEFORE every iteration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25496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MUST update the loop variable — or it runs forever!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27248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Stops automatically when the condition becomes False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63040"/>
            <a:ext cx="5897880" cy="166420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463040"/>
            <a:ext cx="64008" cy="16642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15544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59669"/>
                </a:solidFill>
                <a:latin typeface="Calibri"/>
              </a:rPr>
              <a:t>For vs While — When to Use Which?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920240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FOR → use when count is fixed &amp; known (e.g. 10 times)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221992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WHILE → use when count depends on user/data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523744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WHILE → ideal for menus, retry logic, sensor polling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825496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WHILE → great for 'keep asking until valid input'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127248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FOR is safer — no risk of accidental infinite 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55264"/>
            <a:ext cx="1152144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255264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29184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12E81"/>
                </a:solidFill>
                <a:latin typeface="Calibri"/>
              </a:rPr>
              <a:t>Analogy:  'Keep doing push-ups while you still have energy' = while energy &gt; 0: do_pushup()  — you stop when energy runs out.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40480"/>
            <a:ext cx="3749039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85876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1 — Basic Counter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224528"/>
            <a:ext cx="3749039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224528"/>
            <a:ext cx="6400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4315968"/>
            <a:ext cx="35204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count = 1
while count &lt;= 5:
    print(count)
    count += 1   # CRITICAL!
# Output: 1 2 3 4 5
# count += 1 prevents infinite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840480"/>
            <a:ext cx="38404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85876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2 — User Input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4224528"/>
            <a:ext cx="384048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4224528"/>
            <a:ext cx="6400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4315968"/>
            <a:ext cx="3611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password = ""
while password != "python123":
    password = input("Enter password: ")
print("Access Granted!")
# Keeps asking until correct!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840480"/>
            <a:ext cx="3703320" cy="19202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384048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9502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1B1B"/>
                </a:solidFill>
                <a:latin typeface="Calibri"/>
              </a:rPr>
              <a:t>Infinite Loop — Critical Danger!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297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WRONG (will freeze your computer):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59028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  count =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8828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  while count &lt;= 3: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517550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    print(count)  # count never changes!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468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7607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FIX: Always add  count += 1  inside the loop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4: Loop Control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Fine-tuning loop execution with break, continue &amp;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6576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break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93392"/>
            <a:ext cx="3657600" cy="23774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57400"/>
            <a:ext cx="3456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Immediately exits the entire loop — no more iterations happen.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06040"/>
            <a:ext cx="3456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34155"/>
                </a:solidFill>
                <a:latin typeface="Calibri"/>
              </a:rPr>
              <a:t>Analogy: Fire alarm during an exam → drop pen &amp; leave room at once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463040"/>
            <a:ext cx="36576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508760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continue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993392"/>
            <a:ext cx="3657600" cy="23774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57400"/>
            <a:ext cx="3456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Skips the rest of the CURRENT iteration and moves to the NEXT 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456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34155"/>
                </a:solidFill>
                <a:latin typeface="Calibri"/>
              </a:rPr>
              <a:t>Analogy: Question too hard in exam → skip it, move to next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463040"/>
            <a:ext cx="365760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1508760"/>
            <a:ext cx="3474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1993392"/>
            <a:ext cx="3657600" cy="23774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057400"/>
            <a:ext cx="3456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Does absolutely nothing — a syntax placeholder for empty blocks.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606040"/>
            <a:ext cx="3456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34155"/>
                </a:solidFill>
                <a:latin typeface="Calibri"/>
              </a:rPr>
              <a:t>Analogy: Reserved parking spot — space is saved but currently unused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498848"/>
            <a:ext cx="36118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17136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break — Exit Early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82896"/>
            <a:ext cx="361188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882896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4974336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for num in range(1, 6):
    if num == 3:
        break    # exit now
    print(num)
# Output: 1  2
# (3, 4, 5 never printed)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498848"/>
            <a:ext cx="38404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5171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continue — Skip One Iteration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882896"/>
            <a:ext cx="384048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4882896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4974336"/>
            <a:ext cx="3611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for num in range(1, 6):
    if num == 3:
        continue   # skip 3
    print(num)
# Output: 1  2  4  5
# (3 is skipped, rest prints)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498848"/>
            <a:ext cx="37033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51713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pass — Empty Placeholder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882896"/>
            <a:ext cx="370332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4882896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974336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for task in range(3):
    pass    # fill in later
print("Tasks added later")
# Prevents SyntaxError
# for empty block definitions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Nested Loops &amp;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Loops inside loops — powerful iteration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394960" cy="1920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1920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12E81"/>
                </a:solidFill>
                <a:latin typeface="Calibri"/>
              </a:rPr>
              <a:t>What is a Nested Loop?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20240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 loop placed inside another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21992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Outer loop runs ONCE per cycle; inner loop runs FULLY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23744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If outer = 3 iterations and inner = 5 → 15 total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25496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Used for: tables, grids, patterns, matrix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27248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Be careful — nested loops are computationally expensive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63040"/>
            <a:ext cx="5897880" cy="19202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463040"/>
            <a:ext cx="64008" cy="1920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15544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59669"/>
                </a:solidFill>
                <a:latin typeface="Calibri"/>
              </a:rPr>
              <a:t>Real-World Nested Loop Uses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920240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Printing a multiplication table (rows × columns)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221992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Generating star/number pyramid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523744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Searching a 2D grid (rows and columns)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825496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Comparing every item in two 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127248"/>
            <a:ext cx="5550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Building chess board-style visualizations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20440"/>
            <a:ext cx="36576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5387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— Multiplication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04487"/>
            <a:ext cx="365760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904487"/>
            <a:ext cx="64008" cy="2606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3995927"/>
            <a:ext cx="34290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for i in range(1, 4):       # outer
    for j in range(1, 4):   # inner
        print(i * j, end=" ")
    print()  # new line
# Output:
# 1  2  3
# 2  4  6
# 3  6  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520440"/>
            <a:ext cx="3749039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353872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— Star Triangle Pattern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904487"/>
            <a:ext cx="3749039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0520" y="3904487"/>
            <a:ext cx="64008" cy="2606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5112" y="3995927"/>
            <a:ext cx="352043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for i in range(1, 6):
    print("*" * i)
# Output:
# *
# **
# ***
# ****
# *****
# String multiplication repeats char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3520440"/>
            <a:ext cx="3749039" cy="2606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3520440"/>
            <a:ext cx="64008" cy="2606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2" y="361188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350F"/>
                </a:solidFill>
                <a:latin typeface="Calibri"/>
              </a:rPr>
              <a:t>Key Points — Nested Loops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3977640"/>
            <a:ext cx="3401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Each outer iteration triggers a FULL inner loop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270248"/>
            <a:ext cx="3401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Total iterations = outer_count × inner_count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4562856"/>
            <a:ext cx="3401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Use different variable names (i, j, k) for each level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2" y="4855464"/>
            <a:ext cx="3401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Deeply nested loops (3+ levels) are usually a code smell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2" y="5148072"/>
            <a:ext cx="3401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break inside inner loop exits only the inner loop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5: Practice 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Apply your knowledge — hands-on coding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960120" cy="2148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5361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Exercise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361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Even or Odd Checker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920240"/>
            <a:ext cx="667512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920240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2011680"/>
            <a:ext cx="6446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number = int(input("Enter a number: "))
if number % 2 == 0:
    print("Even Number")
else:
    print("Odd Number")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20240"/>
            <a:ext cx="3611880" cy="16002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6400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8350F"/>
                </a:solidFill>
                <a:latin typeface="Calibri"/>
              </a:rPr>
              <a:t>modulo % operator returns remainder. Even numbers always have remainder 0 when divided by 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49040"/>
            <a:ext cx="960120" cy="2148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8221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Exercise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221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Multiplication Table Generator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206240"/>
            <a:ext cx="667512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4206240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4297680"/>
            <a:ext cx="6446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number = int(input("Enter number: "))
for i in range(1, 11):
    print(f"{number} x {i} = {number * i}")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206240"/>
            <a:ext cx="3611880" cy="16002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206240"/>
            <a:ext cx="6400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4279392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8350F"/>
                </a:solidFill>
                <a:latin typeface="Calibri"/>
              </a:rPr>
              <a:t>f-string formatting formats the table neatly. range(1, 11) gives 1 through 10.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035040"/>
            <a:ext cx="960120" cy="2148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61081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Exercise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1081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Factorial Calculator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6492240"/>
            <a:ext cx="667512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6492240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36192" y="6583680"/>
            <a:ext cx="6446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number = int(input("Enter number: "))
factorial = 1
for i in range(1, number + 1):
    factorial *= i
print("Factorial:", factorial)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6492240"/>
            <a:ext cx="3611880" cy="16002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6492240"/>
            <a:ext cx="6400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6565392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8350F"/>
                </a:solidFill>
                <a:latin typeface="Calibri"/>
              </a:rPr>
              <a:t>5! = 5×4×3×2×1 = 120. Accumulate the product by multiplying each loop value.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Mini Coding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Fun micro-programs to master control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Activity 1 — Number Guessing Game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83664"/>
            <a:ext cx="548640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83664"/>
            <a:ext cx="64008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975104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import random
secret_number = random.randint(1, 10)
guess = int(input("Guess a number (1-10): "))
if guess == secret_number:
    print("Correct Guess!")
else:
    print(f"Wrong! The number was {secret_number}")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883664"/>
            <a:ext cx="5852160" cy="2286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83664"/>
            <a:ext cx="64008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97510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59669"/>
                </a:solidFill>
                <a:latin typeface="Calibri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34086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random.randint(1, 10) picks a random integer 1–10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2642616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User guesses via input() — converted to 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944368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Comparison with == checks for an exact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246120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f-string reveals the secret number if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547872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Extend it: add a while loop for multiple attempts!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9768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Activity 2 — Star Triangle Pattern Generator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718304"/>
            <a:ext cx="5486400" cy="1783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718304"/>
            <a:ext cx="64008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4809744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for i in range(1, 6):
    print("*" * i)
# Output:
# *  **  ***  ****  *****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4718304"/>
            <a:ext cx="5852160" cy="1783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4718304"/>
            <a:ext cx="64008" cy="1783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480974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12E81"/>
                </a:solidFill>
                <a:latin typeface="Calibri"/>
              </a:rPr>
              <a:t>Why This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517550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'*' * i repeats the star character i times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5477256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Each row i prints i stars → triangle 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5779008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Extend: try reversed triangle with range(5, 0, -1)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6080760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Challenge: create a diamond pattern using two loops!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Day 2 Cheat Sheet —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Everything you learned today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971800" cy="5074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97180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447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Conditional Statements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901952"/>
            <a:ext cx="2834640" cy="18105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901952"/>
            <a:ext cx="64008" cy="18105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93392"/>
            <a:ext cx="26060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if condition:
    ...
elif another:
    ...
else:
   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12E81"/>
                </a:solidFill>
                <a:latin typeface="Calibri"/>
              </a:rPr>
              <a:t>• Colon : after every 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0599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12E81"/>
                </a:solidFill>
                <a:latin typeface="Calibri"/>
              </a:rPr>
              <a:t>• 4-space indentation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35254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12E81"/>
                </a:solidFill>
                <a:latin typeface="Calibri"/>
              </a:rPr>
              <a:t>• Only 1st match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64515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12E81"/>
                </a:solidFill>
                <a:latin typeface="Calibri"/>
              </a:rPr>
              <a:t>• elif &amp; else are optional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49377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12E81"/>
                </a:solidFill>
                <a:latin typeface="Calibri"/>
              </a:rPr>
              <a:t>• Conditions → True or 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52303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12E81"/>
                </a:solidFill>
                <a:latin typeface="Calibri"/>
              </a:rPr>
              <a:t>• Can nest ifs inside ifs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55229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12E81"/>
                </a:solidFill>
                <a:latin typeface="Calibri"/>
              </a:rPr>
              <a:t>• Use == not = for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0712" y="1417320"/>
            <a:ext cx="2788920" cy="5074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0712" y="1417320"/>
            <a:ext cx="278892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3864" y="14447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Logical &amp; Comparison 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3864" y="1901952"/>
            <a:ext cx="82296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11296" y="196596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==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196596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equal 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83864" y="2404872"/>
            <a:ext cx="82296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11296" y="246888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!=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24688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not equal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83864" y="2907792"/>
            <a:ext cx="82296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11296" y="297180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4" y="297180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greater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83864" y="3410712"/>
            <a:ext cx="82296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11296" y="347472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2544" y="34747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less than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83864" y="3913632"/>
            <a:ext cx="82296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11296" y="397764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52544" y="397764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≥ equal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83864" y="4416552"/>
            <a:ext cx="82296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11296" y="448056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52544" y="448056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≤ equal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83864" y="4919472"/>
            <a:ext cx="82296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1296" y="498348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2544" y="49834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both True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83864" y="5422392"/>
            <a:ext cx="82296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11296" y="548640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52544" y="548640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one True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83864" y="5925312"/>
            <a:ext cx="82296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11296" y="598932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not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2544" y="59893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reverses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64224" y="1417320"/>
            <a:ext cx="2834640" cy="50749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64224" y="1417320"/>
            <a:ext cx="283464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37376" y="1444752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 &amp; While Loops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37376" y="1901952"/>
            <a:ext cx="2688336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37376" y="1901952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1993392"/>
            <a:ext cx="2459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for i in range(1, 6):
    print(i)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37376" y="2880360"/>
            <a:ext cx="2688336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37376" y="288036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01968" y="2971800"/>
            <a:ext cx="24597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count = 1
while count &lt;= 5:
    print(count)
    count +=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7376" y="3959352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8350F"/>
                </a:solidFill>
                <a:latin typeface="Calibri"/>
              </a:rPr>
              <a:t>• for = fixed count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4306824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8350F"/>
                </a:solidFill>
                <a:latin typeface="Calibri"/>
              </a:rPr>
              <a:t>• while = dynamic condition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37376" y="4654296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8350F"/>
                </a:solidFill>
                <a:latin typeface="Calibri"/>
              </a:rPr>
              <a:t>• range(s, e, step)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37376" y="5001768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8350F"/>
                </a:solidFill>
                <a:latin typeface="Calibri"/>
              </a:rPr>
              <a:t>• while needs exit condition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37376" y="5349240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8350F"/>
                </a:solidFill>
                <a:latin typeface="Calibri"/>
              </a:rPr>
              <a:t>• Infinite loop = danger!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37376" y="5696712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8350F"/>
                </a:solidFill>
                <a:latin typeface="Calibri"/>
              </a:rPr>
              <a:t>• for is generally safer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63456" y="1417320"/>
            <a:ext cx="2514600" cy="5074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63456" y="1417320"/>
            <a:ext cx="251460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36608" y="1444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Loop Control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36608" y="1901952"/>
            <a:ext cx="23774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91472" y="1956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urier New"/>
              </a:rPr>
              <a:t>break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36608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Exit the loop entirely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36608" y="2871216"/>
            <a:ext cx="2377440" cy="4389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436608" y="2871216"/>
            <a:ext cx="64008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0" y="29626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if x==5: break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3410712"/>
            <a:ext cx="23774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91472" y="34655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urier New"/>
              </a:rPr>
              <a:t>continue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38404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Skip current iteration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36608" y="4379976"/>
            <a:ext cx="2377440" cy="4389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436608" y="4379976"/>
            <a:ext cx="64008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01200" y="447141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if x==3: continue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436608" y="4919472"/>
            <a:ext cx="23774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91472" y="49743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urier New"/>
              </a:rPr>
              <a:t>pass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5349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Do nothing / placeholder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36608" y="5888736"/>
            <a:ext cx="2377440" cy="4389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36608" y="5888736"/>
            <a:ext cx="64008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01200" y="598017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for i in r: pass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Try It Yourself! — Coding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F3D0"/>
                </a:solidFill>
                <a:latin typeface="Calibri"/>
              </a:rPr>
              <a:t>Test your understanding with these hands-on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463040"/>
            <a:ext cx="3749039" cy="2240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" y="1463040"/>
            <a:ext cx="3749039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08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Challenge 1: Temperature 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192024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Ask for temperature in Celsius.
If &gt; 30 → print 'It is hot!'
Elif &gt; 20 → 'It is warm.'
Else → 'It is cool.'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200400"/>
            <a:ext cx="3749039" cy="5029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3236976"/>
            <a:ext cx="3547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350F"/>
                </a:solidFill>
                <a:latin typeface="Calibri"/>
              </a:rPr>
              <a:t>Tests: if / elif / else 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463040"/>
            <a:ext cx="3749039" cy="2240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463040"/>
            <a:ext cx="3749039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508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Challenge 2: Grade Validator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192024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Ask for a grade (0–100).
If between 80 and 100 (inclusive) → 'Excellent!'
Elif between 60 and 79 → 'Good'
Else → 'Needs Improvement'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3200400"/>
            <a:ext cx="3749039" cy="5029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3236976"/>
            <a:ext cx="3547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350F"/>
                </a:solidFill>
                <a:latin typeface="Calibri"/>
              </a:rPr>
              <a:t>Tests: and operator + elif 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7888" y="1463040"/>
            <a:ext cx="3749039" cy="2240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47888" y="1463040"/>
            <a:ext cx="3749039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508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Challenge 3: FizzBuzz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192024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Loop from 1 to 20.
If divisible by 3 → print 'Fizz'
If divisible by 5 → print 'Buzz'
If both → print 'FizzBuzz'
Else → print the number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7888" y="3200400"/>
            <a:ext cx="3749039" cy="5029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3236976"/>
            <a:ext cx="3547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350F"/>
                </a:solidFill>
                <a:latin typeface="Calibri"/>
              </a:rPr>
              <a:t>Tests: modulo + loops + elif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3840480"/>
            <a:ext cx="3749039" cy="2240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" y="3840480"/>
            <a:ext cx="3749039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886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Challenge 4: Skip the Vowels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" y="429768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Loop through the string 'Python is fun'.
For each character, if it is a vowel (a,e,i,o,u),
use continue to skip it.
Print remaining characters.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5577840"/>
            <a:ext cx="3749039" cy="5029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5614416"/>
            <a:ext cx="3547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350F"/>
                </a:solidFill>
                <a:latin typeface="Calibri"/>
              </a:rPr>
              <a:t>Tests: for loop + continue + string iteration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3840480"/>
            <a:ext cx="3749039" cy="2240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0248" y="3840480"/>
            <a:ext cx="3749039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1688" y="3886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Challenge 5: Sum Until Zero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9976" y="429768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Ask user for numbers in a while loop.
Keep a running total.
If user enters 0, break the loop.
Print the total at the end.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5577840"/>
            <a:ext cx="3749039" cy="5029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9976" y="5614416"/>
            <a:ext cx="3547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350F"/>
                </a:solidFill>
                <a:latin typeface="Calibri"/>
              </a:rPr>
              <a:t>Tests: while loop + break + accumulator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3840480"/>
            <a:ext cx="3749039" cy="2240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47888" y="3840480"/>
            <a:ext cx="3749039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3886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Challenge 6: Pyramid Builder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29768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Use a for loop to print a number pyramid:
1
1 2
1 2 3
1 2 3 4
1 2 3 4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47888" y="5577840"/>
            <a:ext cx="3749039" cy="5029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6" y="5614416"/>
            <a:ext cx="3547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350F"/>
                </a:solidFill>
                <a:latin typeface="Calibri"/>
              </a:rPr>
              <a:t>Tests: nested loops / f-strings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2: Control Flow &amp; Iteration  |  Python Workshop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Day 2 Complete!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7F3D0"/>
                </a:solidFill>
                <a:latin typeface="Calibri"/>
              </a:rPr>
              <a:t>Phenomenal work! You've mastered the logic and automation backbone of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Today You Mastered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87168"/>
            <a:ext cx="5029200" cy="365760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52374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Conditional Statements  (if / elif / else)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9504"/>
            <a:ext cx="5029200" cy="365760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92608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Comparison Operators  (==  !=  &gt;  &lt;  &gt;=  &lt;=)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5029200" cy="365760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2841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Logical Operators  (and  /  or  /  not)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94176"/>
            <a:ext cx="5029200" cy="365760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730752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For Loops  (range, list iteration)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96512"/>
            <a:ext cx="5029200" cy="365760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33088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While Loops  (condition-based repetition)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98848"/>
            <a:ext cx="5029200" cy="365760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53542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Loop Controls  (break / continue / pass)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01184"/>
            <a:ext cx="5029200" cy="365760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93776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Nested Loops  (patterns, tables)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03520"/>
            <a:ext cx="5029200" cy="365760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34009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Mini-Projects  (guessing game, patterns)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011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F3D0"/>
                </a:solidFill>
                <a:latin typeface="Calibri"/>
              </a:rPr>
              <a:t>Day 3 Preview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487168"/>
            <a:ext cx="5760720" cy="530352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5237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F3D0"/>
                </a:solidFill>
                <a:latin typeface="Calibri"/>
              </a:rPr>
              <a:t>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786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def, parameters, return values, scope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063240"/>
            <a:ext cx="5760720" cy="530352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309981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F3D0"/>
                </a:solidFill>
                <a:latin typeface="Calibri"/>
              </a:rPr>
              <a:t>Lists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154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indexing, slicing, list methods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639312"/>
            <a:ext cx="5760720" cy="530352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67588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F3D0"/>
                </a:solidFill>
                <a:latin typeface="Calibri"/>
              </a:rPr>
              <a:t>Dictionaries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30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key-value pairs, dict operations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215384"/>
            <a:ext cx="5760720" cy="530352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25196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F3D0"/>
                </a:solidFill>
                <a:latin typeface="Calibri"/>
              </a:rPr>
              <a:t>Tuples &amp; 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068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immutable sequences, unique collections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791456"/>
            <a:ext cx="5760720" cy="530352"/>
          </a:xfrm>
          <a:prstGeom prst="rect">
            <a:avLst/>
          </a:prstGeom>
          <a:solidFill>
            <a:srgbClr val="06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8280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F3D0"/>
                </a:solidFill>
                <a:latin typeface="Calibri"/>
              </a:rPr>
              <a:t>Final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8828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Full mini-application combining all 3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1FAE5"/>
                </a:solidFill>
                <a:latin typeface="Calibri"/>
              </a:rPr>
              <a:t>Rest well — Day 3 will bring the final power tools that transform you from a coder to a Python programmer!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